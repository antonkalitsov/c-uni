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78" r:id="rId23"/>
    <p:sldId id="280" r:id="rId24"/>
    <p:sldId id="282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416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2 минути.</a:t>
            </a:r>
          </a:p>
          <a:p>
            <a:endParaRPr/>
          </a:p>
          <a:p>
            <a:r>
              <a:t>Отвори с идеята, че курсът е работа по един развиващ се продукт, а не поредица от несвързани технологии. Днес целта е всички да имат еднаква карта: какво предстои, как работим с GitHub, как стартираме проекта и как използваме AI практично и отговорно.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3 минути.</a:t>
            </a:r>
          </a:p>
          <a:p>
            <a:endParaRPr/>
          </a:p>
          <a:p>
            <a:r>
              <a:t>Представи се със свои думи и допълни устно опита, който искаш студентите да знаят. Слайдът нарочно не съдържа неподтвърдени биографични детайли. Подчертай очакването за активен диалог и въпроси.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3 минути.</a:t>
            </a:r>
          </a:p>
          <a:p>
            <a:endParaRPr/>
          </a:p>
          <a:p>
            <a:r>
              <a:t>Разкажи целия маршрут, за да знаят студентите кога ще работят самостоятелно. Обясни, че последната дискусия няма готови отговори от преподавателя — очакванията и темите трябва да дойдат от тях.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Обясни frontend-first подхода. В първото упражнение само страницираният списък с филми стига до backend-а. Детайли, watchlist, рейтинги, статистика и вход са визуални демонстрации до съответното упражнение.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Назови първо отговорността, после инструмента. Стекът е избран заради ясни граници, единен C# контекст и добра видимост върху механиката.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Свържи езиковите възможности с поддръжката на продукта: records за ясни DTO договори, enums за domain речник, LINQ за трансформации, interfaces за заменими зависимости и async/await за I/O.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Уточни, че MovieTracker.Web е standalone Blazor WebAssembly и няма project reference към server проектите. Така route, status code, JSON, CORS и network errors остават видими и учебно полезни.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Minimal API описва programming model, не малък или несериозен API. Проследи четирите етапа и отбележи, че DTO, а не domain entity, пресича HTTP границата.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Подчертай, че проектите не са козметични папки, а контрол на dependency direction. Domain не зависи от вътрешен проект; Application зависи от Domain; Infrastructure имплементира interfaces от Application; API свързва конкретните части.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Коригирай често объркване: EF Core не е базата. PostgreSQL съхранява данните; EF Core е .NET data-access layer. В упражнение 03 сменяме implementation-а зад IMovieRepository, без да пренаписваме handlers.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Преход към демонстрация: MovieTracker: от екрана до request-а.</a:t>
            </a:r>
          </a:p>
          <a:p>
            <a:endParaRPr/>
          </a:p>
          <a:p>
            <a:r>
              <a:t>Покажи процеса спокойно и назовавай всяка стъпка. Не прескачай грешките — те са полезна част от демонстрацията. След края върни студентите към конкретните наблюдения от дясната страна на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Провери дали всички правят разлика между Git и GitHub. Git работи локално и без интернет. GitHub хоства remote repository и добавя collaboration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6 минути.</a:t>
            </a:r>
          </a:p>
          <a:p>
            <a:endParaRPr/>
          </a:p>
          <a:p>
            <a:r>
              <a:t>Покажи къде GitHub приема public key. Ако някой вече има работещ ключ, не го карай да създава нов без причина. Подчертай разликата private/public и провери връзката с ssh -T.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6 минути.</a:t>
            </a:r>
          </a:p>
          <a:p>
            <a:endParaRPr/>
          </a:p>
          <a:p>
            <a:r>
              <a:t>Демонстрирай vocabulary, не всички Git команди. git status е ориентирът преди и след всяка стъпка. Не насърчавай огромни commits с неясни имена.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Покажи точните бутони в GitHub. За demo-то repository-то остава без автоматично създадени файлове, защото ще свържем вече инициализирана локална папка.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Преход към демонстрация: SSH ключ + първо GitHub repo.</a:t>
            </a:r>
          </a:p>
          <a:p>
            <a:endParaRPr/>
          </a:p>
          <a:p>
            <a:r>
              <a:t>Покажи процеса спокойно и назовавай всяка стъпка. Не прескачай грешките — те са полезна част от демонстрацията. След края върни студентите към конкретните наблюдения от дясната страна на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4 минути.</a:t>
            </a:r>
          </a:p>
          <a:p>
            <a:endParaRPr/>
          </a:p>
          <a:p>
            <a:r>
              <a:t>Отвори repository-то в browser. Покажи README, src/01 и exercises. Обясни защо готовите по-късни версии съществуват за преподавателя, но студентската работа днес започва от src/01.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Изпълни командите от корена на repository-то. Ако SSH не работи, върни се към ключа; ако dotnet --version не показва правилния SDK, диагностицирай средата преди промени по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Пусни API първо и Web второ. При HTTPS certificate проблем го третирай като environment issue. Отвори /movies и покажи в browser dev tools, че заявката отива към API на отделен порт.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Преход към демонстрация: Clone &amp; Run MovieTracker.</a:t>
            </a:r>
          </a:p>
          <a:p>
            <a:endParaRPr/>
          </a:p>
          <a:p>
            <a:r>
              <a:t>Покажи процеса спокойно и назовавай всяка стъпка. Не прескачай грешките — те са полезна част от демонстрацията. След края върни студентите към конкретните наблюдения от дясната страна на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15–25 минути според групата.</a:t>
            </a:r>
          </a:p>
          <a:p>
            <a:endParaRPr/>
          </a:p>
          <a:p>
            <a:r>
              <a:t>Остави студентите да извършат стъпките сами. Не поемай клавиатурата веднага. При проблем поискайте точната команда, папка и error output. Готовите помагат на съседите чрез въпроси, не чрез копиране на произволни команди.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Ограничи теорията. Целта е практичен договор: контекст, малка задача, review, verification и способност студентът да обясни решението. Никога не се изпращат secrets, tokens или лични данни.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5 минути.</a:t>
            </a:r>
          </a:p>
          <a:p>
            <a:endParaRPr/>
          </a:p>
          <a:p>
            <a:r>
              <a:t>Разглоби prompt-а на четири части. Примерът нарочно започва с обяснение без редакция. След като студентът разбира пътя, може да поиска минимална промяна и отделно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Преход към демонстрация: AI в реалния MovieTracker workflow.</a:t>
            </a:r>
          </a:p>
          <a:p>
            <a:endParaRPr/>
          </a:p>
          <a:p>
            <a:r>
              <a:t>Покажи процеса спокойно и назовавай всяка стъпка. Не прескачай грешките — те са полезна част от демонстрацията. След края върни студентите към конкретните наблюдения от дясната страна на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Предложено време: 10–15 минути.</a:t>
            </a:r>
          </a:p>
          <a:p>
            <a:endParaRPr/>
          </a:p>
          <a:p>
            <a:r>
              <a:t>Запази две минути тишина, в които всеки записва отговор. После събери отговори без да ги подменяш със свои. Групирай очакванията по теми и отбележи кои се покриват от roadmap-а и кои могат да станат допълнителни примери.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Финален слайд.</a:t>
            </a:r>
          </a:p>
          <a:p>
            <a:endParaRPr/>
          </a:p>
          <a:p>
            <a:r>
              <a:t>Остави го на екрана по време на въпросите. Ако няма въпроси, върни една от четирите категории като конкретен prompt: „Коя команда, граница или стъпка искате да видим още веднъж?“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207B-A834-0BAC-E030-BC8D2B5BC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4EBCA-B5D8-0D5A-1592-AA5C66863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229E5-2A0E-622F-3828-259592B66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4BAE1-F849-BFAA-7E0A-FA4F4BFD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CFD8-B221-18DD-E8D4-C186F48F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3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6097-D685-811B-AC91-76E9C1EE0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50126-D8A9-7E72-8BB0-A466BDC46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C7EFD-D42A-3449-BEDA-07A59249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12466-EA80-021F-03A1-FE30FBB46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5F233-07CC-8E28-3FD0-C273C0EA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6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EFB2-D901-4D4E-86B8-D02C8E74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ABB13-2725-816C-1BA0-7BBFDBA50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C3FEC-13AC-7276-811D-82A8D637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2B915-373F-5BDE-9052-A689020CE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A7AFD-4C43-D64D-4222-8F8766C23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4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B693-9133-FA77-9E67-DC176EA2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119B6-6848-8BEF-958C-2DAE8E9B1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8C3C3-A41D-C5BC-06CE-A836E8171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9D57C-B2A5-E001-E17F-BC83FEE3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E2B84-05C8-F9D2-9BFE-08EB7A5C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BD9C3-7B9D-8D1B-6570-9137AD257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0E69C-A5D7-3DEA-406A-519D525B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6B344-158F-7895-DEAE-4FD76B6E4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01031-AC2C-04C4-93DA-2B5AA003D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4C9C04-DAB3-0DBD-B234-C85624512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AB2B9-09D1-58F2-84F9-1098E68A87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97FE7-1863-4B77-B26B-8CABBAC7D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417C18-9FBD-702D-ACB2-740BDD3F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67B13-473C-9E41-57E9-1337E63C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0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21D6-2FF2-E400-D0C0-EA586B4F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9C9337-9BF1-31DB-D649-F86C84EA3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2F3A3-417C-1485-4A79-B3540C54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233B6-0167-B16E-39F8-740CFDF8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9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64D43-6999-FECD-8B54-089CEB27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77C9-70AB-FC61-5ECA-9B7ED14D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34F25-31E8-D37A-BF47-1C975C21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06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DE3B-C7AC-A69D-D508-872146BE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25C90-61D8-16D8-B431-ED1791696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40B41-8F3D-9708-0C50-ABBE56F15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BD474-8C68-7C7A-DD45-288C150C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9D134-2399-D107-9609-3B4ACC68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AA8C8-06CD-8535-A403-17D55E3D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0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1AFE2-3B9B-59AF-DD16-7BAF04D0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CF258-A243-407A-BB7A-FDA5F315B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D8ED4-C988-7A6B-08A2-F0BE9C02F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01025-0B08-190A-602F-3BD0899E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F9A25-40BB-5D89-8854-4428A442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D5F96-F0E4-E2BC-9526-365F0341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4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C971-C132-F937-5E46-3162A2E2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9E9E5-1468-0855-4501-2C826B3CC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BE442-FBAF-2865-8737-30D93A9B7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23468-DB2E-DFE0-5BFD-35B0D82E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EAFBC-EA28-CA1A-C015-BC5856F0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163733-3F44-24B6-87F2-4B649346A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49607-01AA-6D10-2257-D3F2A0992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DC7F1-D82A-98EE-1CAF-AA301E67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D5355-A1F1-D2DA-BAA3-83B8974F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4928E-F978-47DA-65FD-8614E84B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7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023F1-A68E-4FD7-5519-F769CA85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7B01A-8EB1-564B-324C-A547AE81E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B3F5C-2AAC-8900-6A9A-9D779FB25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7E0C4-52BF-146B-AD22-0FC34EFE07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60E55-B795-EEA7-2012-D10BD2096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71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omihov/TUMovieTracker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MOVIETRACKER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566928"/>
            <a:ext cx="3611880" cy="54406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82127" y="841248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981944" y="841248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882127" y="1554480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81944" y="1554480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882127" y="2267712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981944" y="2267712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82127" y="2980944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981944" y="2980944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82127" y="3694176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981944" y="3694176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882127" y="4407408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981944" y="4407408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882127" y="5120640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981944" y="5120640"/>
            <a:ext cx="146304" cy="3474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75320" y="960120"/>
            <a:ext cx="1115568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969264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50D2C2"/>
                </a:solidFill>
                <a:latin typeface="Aptos"/>
              </a:rPr>
              <a:t>ЛЕКЦИЯ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1463040"/>
            <a:ext cx="248716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7F3EA"/>
                </a:solidFill>
                <a:latin typeface="Aptos Display"/>
              </a:rPr>
              <a:t>Един проект.
Много умения.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2615184"/>
            <a:ext cx="2423160" cy="135331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85632" y="283464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05263"/>
                </a:solidFill>
                <a:latin typeface="Aptos"/>
              </a:rPr>
              <a:t>ДНЕС ЗАПОЧВАМЕ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136392"/>
            <a:ext cx="6583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4C95D"/>
                </a:solidFill>
                <a:latin typeface="Aptos Display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321868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5C7"/>
                </a:solidFill>
                <a:latin typeface="Aptos"/>
              </a:rPr>
              <a:t>реален
проект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84464" y="4270248"/>
            <a:ext cx="91440" cy="237744"/>
          </a:xfrm>
          <a:prstGeom prst="roundRect">
            <a:avLst>
              <a:gd name="adj" fmla="val 8000"/>
            </a:avLst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13064" y="4261104"/>
            <a:ext cx="19659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7F3EA"/>
                </a:solidFill>
                <a:latin typeface="Aptos"/>
              </a:rPr>
              <a:t>STACK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4464" y="4654296"/>
            <a:ext cx="91440" cy="237744"/>
          </a:xfrm>
          <a:prstGeom prst="roundRect">
            <a:avLst>
              <a:gd name="adj" fmla="val 8000"/>
            </a:avLst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13064" y="4645152"/>
            <a:ext cx="19659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7F3EA"/>
                </a:solidFill>
                <a:latin typeface="Aptos"/>
              </a:rPr>
              <a:t>GITHUB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4464" y="5038344"/>
            <a:ext cx="91440" cy="237744"/>
          </a:xfrm>
          <a:prstGeom prst="roundRect">
            <a:avLst>
              <a:gd name="adj" fmla="val 8000"/>
            </a:avLst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13064" y="5029200"/>
            <a:ext cx="19659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7F3EA"/>
                </a:solidFill>
                <a:latin typeface="Aptos"/>
              </a:rPr>
              <a:t>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758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5263"/>
                </a:solidFill>
                <a:latin typeface="Aptos"/>
              </a:rPr>
              <a:t>СЪВРЕМЕННА .NET РАЗРАБОТКА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1234440"/>
            <a:ext cx="6400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500" b="1" i="0">
                <a:solidFill>
                  <a:srgbClr val="F7F3EA"/>
                </a:solidFill>
                <a:latin typeface="Aptos Display"/>
              </a:rPr>
              <a:t>MovieTracker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404872"/>
            <a:ext cx="62636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C95D"/>
                </a:solidFill>
                <a:latin typeface="Aptos Display"/>
              </a:rPr>
              <a:t>Стартът на курса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" y="3191256"/>
            <a:ext cx="60807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A9B5C7"/>
                </a:solidFill>
                <a:latin typeface="Aptos"/>
              </a:rPr>
              <a:t>Какво предстои • GitHub • проектът • Generative 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" y="4069080"/>
            <a:ext cx="941832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4944" y="4078224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79A9FF"/>
                </a:solidFill>
                <a:latin typeface="Aptos"/>
              </a:rPr>
              <a:t>.NET 10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01368" y="4069080"/>
            <a:ext cx="1051560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801368" y="407822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50D2C2"/>
                </a:solidFill>
                <a:latin typeface="Aptos"/>
              </a:rPr>
              <a:t>BLAZOR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0" y="4069080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017520" y="4078224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05263"/>
                </a:solidFill>
                <a:latin typeface="Aptos"/>
              </a:rPr>
              <a:t>GITHUB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24527" y="4069080"/>
            <a:ext cx="987552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B6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224527" y="4078224"/>
            <a:ext cx="9875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B69CFF"/>
                </a:solidFill>
                <a:latin typeface="Aptos"/>
              </a:rPr>
              <a:t>GEN AI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4944" y="5074920"/>
            <a:ext cx="57150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4400" y="5230368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"/>
              </a:rPr>
              <a:t>Днес настройваме начина, по който ще работим.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ЗАПОЗНАНСТВО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Кой съм аз?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Човекът, който ще ви води през проекта — и ще задава много „защо?“.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64792"/>
            <a:ext cx="3675887" cy="3931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8136" y="2176272"/>
            <a:ext cx="1152144" cy="1152144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" y="2176272"/>
            <a:ext cx="1152144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A0E17"/>
                </a:solidFill>
                <a:latin typeface="Aptos Display"/>
              </a:rPr>
              <a:t>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5456" y="2212848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7F3EA"/>
                </a:solidFill>
                <a:latin typeface="Aptos Display"/>
              </a:rPr>
              <a:t>teomihov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2615184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05263"/>
                </a:solidFill>
                <a:latin typeface="Cascadia Mono"/>
              </a:rPr>
              <a:t>@ GitHub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78992" y="3529584"/>
            <a:ext cx="2871216" cy="0"/>
          </a:xfrm>
          <a:prstGeom prst="line">
            <a:avLst/>
          </a:prstGeom>
          <a:ln w="12700">
            <a:solidFill>
              <a:srgbClr val="2132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60704" y="3813048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50D2C2"/>
                </a:solidFill>
                <a:latin typeface="Aptos"/>
              </a:rPr>
              <a:t>•  </a:t>
            </a:r>
            <a:r>
              <a:rPr sz="1600">
                <a:solidFill>
                  <a:srgbClr val="F7F3EA"/>
                </a:solidFill>
                <a:latin typeface="Aptos"/>
              </a:rPr>
              <a:t>Вашият преподавател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50D2C2"/>
                </a:solidFill>
                <a:latin typeface="Aptos"/>
              </a:rPr>
              <a:t>•  </a:t>
            </a:r>
            <a:r>
              <a:rPr sz="1600">
                <a:solidFill>
                  <a:srgbClr val="F7F3EA"/>
                </a:solidFill>
                <a:latin typeface="Aptos"/>
              </a:rPr>
              <a:t>Софтуерен инженер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50D2C2"/>
                </a:solidFill>
                <a:latin typeface="Aptos"/>
              </a:rPr>
              <a:t>•  </a:t>
            </a:r>
            <a:r>
              <a:rPr sz="1600">
                <a:solidFill>
                  <a:srgbClr val="F7F3EA"/>
                </a:solidFill>
                <a:latin typeface="Aptos"/>
              </a:rPr>
              <a:t>Авторът на MovieTracker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91456" y="1764792"/>
            <a:ext cx="6601968" cy="107899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84064" y="198424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МОЯТА РОЛЯ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1947672"/>
            <a:ext cx="459028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Да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ви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помогна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да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мислите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като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инженери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, </a:t>
            </a: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не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само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да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пишете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700" b="1" i="0" dirty="0" err="1">
                <a:solidFill>
                  <a:srgbClr val="F7F3EA"/>
                </a:solidFill>
                <a:latin typeface="Aptos Display"/>
              </a:rPr>
              <a:t>код</a:t>
            </a:r>
            <a:r>
              <a:rPr sz="1700" b="1" i="0" dirty="0">
                <a:solidFill>
                  <a:srgbClr val="F7F3EA"/>
                </a:solidFill>
                <a:latin typeface="Aptos Display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91456" y="3145536"/>
            <a:ext cx="6601968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91456" y="3145536"/>
            <a:ext cx="1517904" cy="658368"/>
          </a:xfrm>
          <a:prstGeom prst="roundRect">
            <a:avLst>
              <a:gd name="adj" fmla="val 8000"/>
            </a:avLst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91456" y="3145536"/>
            <a:ext cx="151790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Cascadia Mono"/>
              </a:rPr>
              <a:t>ЯСНОТА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291840"/>
            <a:ext cx="4498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Ще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обясняваме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решенията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и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компромисите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91456" y="3986784"/>
            <a:ext cx="6601968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791456" y="3986784"/>
            <a:ext cx="1517904" cy="658368"/>
          </a:xfrm>
          <a:prstGeom prst="roundRect">
            <a:avLst>
              <a:gd name="adj" fmla="val 8000"/>
            </a:avLst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91456" y="3986784"/>
            <a:ext cx="151790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Cascadia Mono"/>
              </a:rPr>
              <a:t>ПРАКТИКА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133088"/>
            <a:ext cx="4498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Ще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учим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през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реална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работа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по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проекта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91456" y="4828032"/>
            <a:ext cx="6601968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791456" y="4828032"/>
            <a:ext cx="1517904" cy="658368"/>
          </a:xfrm>
          <a:prstGeom prst="roundRect">
            <a:avLst>
              <a:gd name="adj" fmla="val 8000"/>
            </a:avLst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91456" y="4828032"/>
            <a:ext cx="151790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Cascadia Mono"/>
              </a:rPr>
              <a:t>ОБРАТНА ВРЪЗКА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974336"/>
            <a:ext cx="4498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Въпросите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и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несъгласието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са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добре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дошли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ДНЕШНИЯТ МАРШРУТ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Как ще протече лекцията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Кратки обяснения, демонстрации и време всеки да повтори стъпките.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46504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6112" y="2020824"/>
            <a:ext cx="512064" cy="512064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20208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1929384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НАКЪДЕ ОТИВАМЕ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2276856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Проект, технологии и защо са избрани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1" y="1746504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00799" y="2020824"/>
            <a:ext cx="512064" cy="512064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799" y="20208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1" y="1929384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1" y="2276856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Акаунт, SSH ключ и ново празно repo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" y="3090672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6112" y="3364991"/>
            <a:ext cx="512064" cy="512064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336499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9344" y="3273552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ПРОЕКТЪТ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9344" y="3621024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Откъде го взимаме и как е подреден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3090672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00799" y="3364991"/>
            <a:ext cx="512064" cy="512064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799" y="336499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1" y="3273552"/>
            <a:ext cx="24688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dirty="0">
                <a:solidFill>
                  <a:srgbClr val="F4C95D"/>
                </a:solidFill>
                <a:latin typeface="Cascadia Mono"/>
              </a:rPr>
              <a:t>ВСЕКИ </a:t>
            </a:r>
            <a:r>
              <a:rPr lang="bg-BG" sz="1050" b="1" i="0" dirty="0">
                <a:solidFill>
                  <a:srgbClr val="F4C95D"/>
                </a:solidFill>
                <a:latin typeface="Cascadia Mono"/>
              </a:rPr>
              <a:t>ДА ГО КАЧИ НА СОБСТВЕНОТО РЕПО</a:t>
            </a:r>
            <a:endParaRPr sz="1050" b="1" i="0" dirty="0">
              <a:solidFill>
                <a:srgbClr val="F4C95D"/>
              </a:solidFill>
              <a:latin typeface="Cascadia Mon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14031" y="3621024"/>
            <a:ext cx="3895344" cy="21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 dirty="0">
                <a:solidFill>
                  <a:srgbClr val="F7F3EA"/>
                </a:solidFill>
                <a:latin typeface="Aptos Display"/>
              </a:rPr>
              <a:t> restore, build, test, </a:t>
            </a:r>
            <a:r>
              <a:rPr lang="en-US" sz="1420" b="1" dirty="0">
                <a:solidFill>
                  <a:srgbClr val="F7F3EA"/>
                </a:solidFill>
                <a:latin typeface="Aptos Display"/>
              </a:rPr>
              <a:t>push</a:t>
            </a:r>
            <a:endParaRPr sz="1420" b="1" i="0" dirty="0">
              <a:solidFill>
                <a:srgbClr val="F7F3EA"/>
              </a:solidFill>
              <a:latin typeface="Aptos Display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94944" y="4434840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96112" y="4709159"/>
            <a:ext cx="512064" cy="512064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4709159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9344" y="4617720"/>
            <a:ext cx="239572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69CFF"/>
                </a:solidFill>
                <a:latin typeface="Cascadia Mono"/>
              </a:rPr>
              <a:t>GENERATIVE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9344" y="4965192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Практическа употреба във VS Code и конзолата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1" y="4434840"/>
            <a:ext cx="516636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8DD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00799" y="4709159"/>
            <a:ext cx="512064" cy="512064"/>
          </a:xfrm>
          <a:prstGeom prst="ellipse">
            <a:avLst/>
          </a:prstGeom>
          <a:solidFill>
            <a:srgbClr val="8DD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799" y="4709159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A0E17"/>
                </a:solidFill>
                <a:latin typeface="Aptos Display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14031" y="461772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dirty="0">
                <a:solidFill>
                  <a:srgbClr val="8DD694"/>
                </a:solidFill>
                <a:latin typeface="Cascadia Mono"/>
              </a:rPr>
              <a:t>ОТВОРЕНА ДИСКУСИЯ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4031" y="4965192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Вашите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очаквания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,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цели</a:t>
            </a:r>
            <a:r>
              <a:rPr sz="1420" b="1" i="0" dirty="0">
                <a:solidFill>
                  <a:srgbClr val="F7F3EA"/>
                </a:solidFill>
                <a:latin typeface="Aptos Display"/>
              </a:rPr>
              <a:t> и </a:t>
            </a:r>
            <a:r>
              <a:rPr sz="1420" b="1" i="0" dirty="0" err="1">
                <a:solidFill>
                  <a:srgbClr val="F7F3EA"/>
                </a:solidFill>
                <a:latin typeface="Aptos Display"/>
              </a:rPr>
              <a:t>въпроси</a:t>
            </a:r>
            <a:endParaRPr sz="1420" b="1" i="0" dirty="0">
              <a:solidFill>
                <a:srgbClr val="F7F3EA"/>
              </a:solidFill>
              <a:latin typeface="Aptos Display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13232" y="5943600"/>
            <a:ext cx="10661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A9B5C7"/>
                </a:solidFill>
                <a:latin typeface="Aptos"/>
              </a:rPr>
              <a:t>Форматът е цикличен: контекст → demo → вие го правите.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ПРОЕКТЪТ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MovieTracker е личен дневник за кино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Интерфейсът показва крайната цел; backend-ът става реален стъпка по стъпка.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1691640"/>
            <a:ext cx="32918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Aptos"/>
              </a:rPr>
              <a:t>ОСНОВНО ПОТРЕБИТЕЛСКО ПЪТУВАНЕ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2029968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6112" y="2231136"/>
            <a:ext cx="438912" cy="438912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22311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276148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9A9FF"/>
                </a:solidFill>
                <a:latin typeface="Aptos"/>
              </a:rPr>
              <a:t>ОТКРИЙ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044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Разгледай каталога</a:t>
            </a:r>
          </a:p>
        </p:txBody>
      </p:sp>
      <p:sp>
        <p:nvSpPr>
          <p:cNvPr id="25" name="Chevron 24"/>
          <p:cNvSpPr/>
          <p:nvPr/>
        </p:nvSpPr>
        <p:spPr>
          <a:xfrm>
            <a:off x="2798063" y="2633472"/>
            <a:ext cx="219456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044952" y="2029968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246120" y="2231136"/>
            <a:ext cx="438912" cy="43891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46120" y="22311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76148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0D2C2"/>
                </a:solidFill>
                <a:latin typeface="Aptos"/>
              </a:rPr>
              <a:t>ЗАПАЗИ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3044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Създай watchlist</a:t>
            </a:r>
          </a:p>
        </p:txBody>
      </p:sp>
      <p:sp>
        <p:nvSpPr>
          <p:cNvPr id="31" name="Chevron 30"/>
          <p:cNvSpPr/>
          <p:nvPr/>
        </p:nvSpPr>
        <p:spPr>
          <a:xfrm>
            <a:off x="5148072" y="2633472"/>
            <a:ext cx="219456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394960" y="2029968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596128" y="2231136"/>
            <a:ext cx="438912" cy="43891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96128" y="22311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6128" y="276148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4C95D"/>
                </a:solidFill>
                <a:latin typeface="Aptos"/>
              </a:rPr>
              <a:t>ОЦЕНИ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128" y="3044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Рейтинг и ревю</a:t>
            </a:r>
          </a:p>
        </p:txBody>
      </p:sp>
      <p:sp>
        <p:nvSpPr>
          <p:cNvPr id="37" name="Chevron 36"/>
          <p:cNvSpPr/>
          <p:nvPr/>
        </p:nvSpPr>
        <p:spPr>
          <a:xfrm>
            <a:off x="7498079" y="2633472"/>
            <a:ext cx="219456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744968" y="2029968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946136" y="2231136"/>
            <a:ext cx="438912" cy="438912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46136" y="22311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46136" y="2761488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69CFF"/>
                </a:solidFill>
                <a:latin typeface="Aptos"/>
              </a:rPr>
              <a:t>НАУЧИ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46136" y="3044952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Лична статистика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12680" y="1728216"/>
            <a:ext cx="1554480" cy="416052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59568" y="197510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05263"/>
                </a:solidFill>
                <a:latin typeface="Cascadia Mono"/>
              </a:rPr>
              <a:t>ЛЕКЦИЯ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04704" y="2395728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7F3EA"/>
                </a:solidFill>
                <a:latin typeface="Aptos Display"/>
              </a:rPr>
              <a:t>1 реален
backend
път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0" y="3310128"/>
            <a:ext cx="1078992" cy="53035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41280" y="3429000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50D2C2"/>
                </a:solidFill>
                <a:latin typeface="Cascadia Mono"/>
              </a:rPr>
              <a:t>GET /movies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789920" y="4087368"/>
            <a:ext cx="0" cy="283464"/>
          </a:xfrm>
          <a:prstGeom prst="line">
            <a:avLst/>
          </a:prstGeom>
          <a:ln w="15240">
            <a:solidFill>
              <a:srgbClr val="6674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222992" y="4498848"/>
            <a:ext cx="114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A9B5C7"/>
                </a:solidFill>
                <a:latin typeface="Aptos Display"/>
              </a:rPr>
              <a:t>Останалото е
preview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4944" y="4041648"/>
            <a:ext cx="8942832" cy="13533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0120" y="4279392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C95D"/>
                </a:solidFill>
                <a:latin typeface="Aptos"/>
              </a:rPr>
              <a:t>Учебен подход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4645152"/>
            <a:ext cx="818387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F7F3EA"/>
                </a:solidFill>
                <a:latin typeface="Aptos Display"/>
              </a:rPr>
              <a:t>Продуктът изглежда цял от ден едно, но всяка backend възможност става реална точно когато сме готови да я научим.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ТЕХНОЛОГИЧНА КАРТА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Стекът с един поглед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Малък набор от инструменти, всеки с ясна отговорност.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764792"/>
            <a:ext cx="8046720" cy="71323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1764792"/>
            <a:ext cx="73152" cy="713232"/>
          </a:xfrm>
          <a:prstGeom prst="rect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188366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50D2C2"/>
                </a:solidFill>
                <a:latin typeface="Cascadia Mono"/>
              </a:rPr>
              <a:t>ИНТЕРФЕЙС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2304" y="1856231"/>
            <a:ext cx="30632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Blazor WebAssembly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392" y="1856231"/>
            <a:ext cx="30906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0" i="0">
                <a:solidFill>
                  <a:srgbClr val="A9B5C7"/>
                </a:solidFill>
                <a:latin typeface="Aptos"/>
              </a:rPr>
              <a:t>Компоненти в браузъра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" y="2578608"/>
            <a:ext cx="7543800" cy="71323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9264" y="2578608"/>
            <a:ext cx="73152" cy="713232"/>
          </a:xfrm>
          <a:prstGeom prst="rect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25296" y="2697479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79A9FF"/>
                </a:solidFill>
                <a:latin typeface="Cascadia Mono"/>
              </a:rPr>
              <a:t>HTTP ГРАНИЦА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88336" y="2670048"/>
            <a:ext cx="30632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ASP.NET Core Minimal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670048"/>
            <a:ext cx="258775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0" i="0">
                <a:solidFill>
                  <a:srgbClr val="A9B5C7"/>
                </a:solidFill>
                <a:latin typeface="Aptos"/>
              </a:rPr>
              <a:t>Routes, status codes, 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25296" y="3392424"/>
            <a:ext cx="7040880" cy="71323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25296" y="3392424"/>
            <a:ext cx="73152" cy="713232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81328" y="35112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F4C95D"/>
                </a:solidFill>
                <a:latin typeface="Cascadia Mono"/>
              </a:rPr>
              <a:t>USE CASES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4368" y="3483864"/>
            <a:ext cx="30632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Vertical slices + FluentValidation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34456" y="3483864"/>
            <a:ext cx="208483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0" i="0">
                <a:solidFill>
                  <a:srgbClr val="A9B5C7"/>
                </a:solidFill>
                <a:latin typeface="Aptos"/>
              </a:rPr>
              <a:t>Една функция, един път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81328" y="4206240"/>
            <a:ext cx="6537960" cy="71323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481328" y="4206240"/>
            <a:ext cx="73152" cy="713232"/>
          </a:xfrm>
          <a:prstGeom prst="rect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37360" y="43251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B69CFF"/>
                </a:solidFill>
                <a:latin typeface="Cascadia Mono"/>
              </a:rPr>
              <a:t>ДАННИ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297679"/>
            <a:ext cx="30632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EF Core + PostgreSQL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0488" y="4297679"/>
            <a:ext cx="15819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0" i="0">
                <a:solidFill>
                  <a:srgbClr val="A9B5C7"/>
                </a:solidFill>
                <a:latin typeface="Aptos"/>
              </a:rPr>
              <a:t>Обекти ↔ релационни данни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37360" y="5020055"/>
            <a:ext cx="6035040" cy="71323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737360" y="5020055"/>
            <a:ext cx="73152" cy="713232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993392" y="513892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F05263"/>
                </a:solidFill>
                <a:latin typeface="Cascadia Mono"/>
              </a:rPr>
              <a:t>ДОСТАВКА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6432" y="5111495"/>
            <a:ext cx="30632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F7F3EA"/>
                </a:solidFill>
                <a:latin typeface="Aptos Display"/>
              </a:rPr>
              <a:t>GitHub • tests • Docker •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111495"/>
            <a:ext cx="107899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70" b="0" i="0">
                <a:solidFill>
                  <a:srgbClr val="A9B5C7"/>
                </a:solidFill>
                <a:latin typeface="Aptos"/>
              </a:rPr>
              <a:t>Работа, проверка, доставка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34272" y="1938528"/>
            <a:ext cx="2404872" cy="356616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397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08592" y="2185416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ЗАЩО ЗАЕДНО?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5168" y="2670048"/>
            <a:ext cx="1810512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50D2C2"/>
                </a:solidFill>
                <a:latin typeface="Aptos"/>
              </a:rPr>
              <a:t>✓  </a:t>
            </a:r>
            <a:r>
              <a:rPr sz="1350">
                <a:solidFill>
                  <a:srgbClr val="F7F3EA"/>
                </a:solidFill>
                <a:latin typeface="Aptos"/>
              </a:rPr>
              <a:t>Един език от край до край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50D2C2"/>
                </a:solidFill>
                <a:latin typeface="Aptos"/>
              </a:rPr>
              <a:t>✓  </a:t>
            </a:r>
            <a:r>
              <a:rPr sz="1350">
                <a:solidFill>
                  <a:srgbClr val="F7F3EA"/>
                </a:solidFill>
                <a:latin typeface="Aptos"/>
              </a:rPr>
              <a:t>Явен поток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50D2C2"/>
                </a:solidFill>
                <a:latin typeface="Aptos"/>
              </a:rPr>
              <a:t>✓  </a:t>
            </a:r>
            <a:r>
              <a:rPr sz="1350">
                <a:solidFill>
                  <a:srgbClr val="F7F3EA"/>
                </a:solidFill>
                <a:latin typeface="Aptos"/>
              </a:rPr>
              <a:t>Заменими части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50D2C2"/>
                </a:solidFill>
                <a:latin typeface="Aptos"/>
              </a:rPr>
              <a:t>✓  </a:t>
            </a:r>
            <a:r>
              <a:rPr sz="1350">
                <a:solidFill>
                  <a:srgbClr val="F7F3EA"/>
                </a:solidFill>
                <a:latin typeface="Aptos"/>
              </a:rPr>
              <a:t>Силни инструменти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50D2C2"/>
                </a:solidFill>
                <a:latin typeface="Aptos"/>
              </a:rPr>
              <a:t>✓  </a:t>
            </a:r>
            <a:r>
              <a:rPr sz="1350">
                <a:solidFill>
                  <a:srgbClr val="F7F3EA"/>
                </a:solidFill>
                <a:latin typeface="Aptos"/>
              </a:rPr>
              <a:t>Индустриална стойност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53728" y="4956048"/>
            <a:ext cx="1965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 i="0">
                <a:solidFill>
                  <a:srgbClr val="F4C95D"/>
                </a:solidFill>
                <a:latin typeface="Aptos Display"/>
              </a:rPr>
              <a:t>Инструментът не е архитектура.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ИЗБОР НА ПЛАТФОРМА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Защо .NET 10 и C#?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Една платформа за web, данни, тестове, инструменти и deployment.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64792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1965960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79A9FF"/>
                </a:solidFill>
                <a:latin typeface="Cascadia Mono"/>
              </a:rPr>
              <a:t>СИЛНИ ТИПОВЕ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2404872"/>
            <a:ext cx="257860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F7F3EA"/>
                </a:solidFill>
                <a:latin typeface="Aptos Display"/>
              </a:rPr>
              <a:t>Compiler feedback прави refactoring-а по-сигурен.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59352" y="1764792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142232" y="1965960"/>
            <a:ext cx="420624" cy="420624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42232" y="19659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1965960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50D2C2"/>
                </a:solidFill>
                <a:latin typeface="Cascadia Mono"/>
              </a:rPr>
              <a:t>ЕДНА ПЛАТФОРМА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2" y="2404872"/>
            <a:ext cx="257860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F7F3EA"/>
                </a:solidFill>
                <a:latin typeface="Aptos Display"/>
              </a:rPr>
              <a:t>API, UI, data access и тестове споделят конвенции.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" y="3209544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77824" y="3410712"/>
            <a:ext cx="420624" cy="420624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" y="34107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3410712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F4C95D"/>
                </a:solidFill>
                <a:latin typeface="Cascadia Mono"/>
              </a:rPr>
              <a:t>ASYNC ПО ДИЗАЙН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3849624"/>
            <a:ext cx="257860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F7F3EA"/>
                </a:solidFill>
                <a:latin typeface="Aptos Display"/>
              </a:rPr>
              <a:t>HTTP и database I/O се комбинират естествено.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59352" y="3209544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142232" y="3410712"/>
            <a:ext cx="420624" cy="420624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42232" y="34107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410712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i="0">
                <a:solidFill>
                  <a:srgbClr val="B69CFF"/>
                </a:solidFill>
                <a:latin typeface="Cascadia Mono"/>
              </a:rPr>
              <a:t>OPEN + CROSS-PLATFORM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42232" y="3849624"/>
            <a:ext cx="257860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F7F3EA"/>
                </a:solidFill>
                <a:latin typeface="Aptos Display"/>
              </a:rPr>
              <a:t>Разработка и deployment на Windows, Linux и macOS.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79792" y="1764792"/>
            <a:ext cx="3977639" cy="3364992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479792" y="1764792"/>
            <a:ext cx="3977639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644383" y="1883664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808975" y="1883664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973567" y="1883664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56448" y="1837943"/>
            <a:ext cx="310895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C# — четим domain код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08392" y="2295144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79A9FF"/>
                </a:solidFill>
                <a:latin typeface="Cascadia Mono"/>
              </a:rPr>
              <a:t>public sealed record Movie(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08392" y="2578608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  Guid Id,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08392" y="2862072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  string Title,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08392" y="3145536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  MovieGenre Genre);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08392" y="3429000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08392" y="3712463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IReadOnlyList&lt;Movie&gt; sciFi =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08392" y="3995927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  movies.Where(m =&gt;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08392" y="4279391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        m.Genre == MovieGenre.SciFi)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8392" y="4562855"/>
            <a:ext cx="3520439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  .ToList();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944" y="4919472"/>
            <a:ext cx="6281928" cy="65836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2688" y="5093208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7F3EA"/>
                </a:solidFill>
                <a:latin typeface="Aptos Display"/>
              </a:rPr>
              <a:t>По-малко смяна на контекст, повече фокус върху решенията.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Защо Blazor WebAssembly?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C# компоненти в браузъра; връзката със server-а е само през HTTP.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64792"/>
            <a:ext cx="6446520" cy="356616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7552" y="2066543"/>
            <a:ext cx="5870448" cy="286207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667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87552" y="2066543"/>
            <a:ext cx="5870448" cy="38404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70432" y="2203704"/>
            <a:ext cx="82296" cy="82296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353312" y="2203704"/>
            <a:ext cx="82296" cy="82296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536192" y="2203704"/>
            <a:ext cx="82296" cy="82296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47088" y="2139696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https://localhost:7002/movies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67919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7F3EA"/>
                </a:solidFill>
                <a:latin typeface="Aptos Display"/>
              </a:rPr>
              <a:t>ФИЛМИ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3108960"/>
            <a:ext cx="1444752" cy="132588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80160" y="3108960"/>
            <a:ext cx="1444752" cy="128016"/>
          </a:xfrm>
          <a:prstGeom prst="rect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26463" y="3419856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7F3EA"/>
                </a:solidFill>
                <a:latin typeface="Aptos Display"/>
              </a:rPr>
              <a:t>Arrival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6463" y="377647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Aptos"/>
              </a:rPr>
              <a:t>2016 · Sci-Fi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6463" y="4133087"/>
            <a:ext cx="758952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26463" y="4142231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79A9FF"/>
                </a:solidFill>
                <a:latin typeface="Aptos"/>
              </a:rPr>
              <a:t>DETAILS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80944" y="3108960"/>
            <a:ext cx="1444752" cy="132588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980944" y="3108960"/>
            <a:ext cx="1444752" cy="128016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27248" y="3419856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7F3EA"/>
                </a:solidFill>
                <a:latin typeface="Aptos Display"/>
              </a:rPr>
              <a:t>Parasite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27248" y="377647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Aptos"/>
              </a:rPr>
              <a:t>2019 · Drama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27248" y="4133087"/>
            <a:ext cx="758952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27248" y="4142231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05263"/>
                </a:solidFill>
                <a:latin typeface="Aptos"/>
              </a:rPr>
              <a:t>DETAILS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1728" y="3108960"/>
            <a:ext cx="1444752" cy="132588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681728" y="3108960"/>
            <a:ext cx="1444752" cy="128016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28032" y="3419856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7F3EA"/>
                </a:solidFill>
                <a:latin typeface="Aptos Display"/>
              </a:rPr>
              <a:t>Whiplash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2" y="377647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Aptos"/>
              </a:rPr>
              <a:t>2014 · Drama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28032" y="4133087"/>
            <a:ext cx="758952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28032" y="4142231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4C95D"/>
                </a:solidFill>
                <a:latin typeface="Aptos"/>
              </a:rPr>
              <a:t>DETAILS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1231" y="1810512"/>
            <a:ext cx="32918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Aptos"/>
              </a:rPr>
              <a:t>ЗАЩО ПАСВА НА КУРСА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2176272"/>
            <a:ext cx="3657600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✓  </a:t>
            </a:r>
            <a:r>
              <a:rPr sz="1550">
                <a:solidFill>
                  <a:srgbClr val="F7F3EA"/>
                </a:solidFill>
                <a:latin typeface="Aptos"/>
              </a:rPr>
              <a:t>Достъпни Razor компоненти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✓  </a:t>
            </a:r>
            <a:r>
              <a:rPr sz="1550">
                <a:solidFill>
                  <a:srgbClr val="F7F3EA"/>
                </a:solidFill>
                <a:latin typeface="Aptos"/>
              </a:rPr>
              <a:t>C# и в client, и в server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✓  </a:t>
            </a:r>
            <a:r>
              <a:rPr sz="1550">
                <a:solidFill>
                  <a:srgbClr val="F7F3EA"/>
                </a:solidFill>
                <a:latin typeface="Aptos"/>
              </a:rPr>
              <a:t>Истинска HTTP граница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✓  </a:t>
            </a:r>
            <a:r>
              <a:rPr sz="1550">
                <a:solidFill>
                  <a:srgbClr val="F7F3EA"/>
                </a:solidFill>
                <a:latin typeface="Aptos"/>
              </a:rPr>
              <a:t>Повторно използваем UI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52944" y="4498848"/>
            <a:ext cx="3730752" cy="105156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90688" y="469087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КОМПРОМИС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90688" y="5020056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A9B5C7"/>
                </a:solidFill>
                <a:latin typeface="Aptos"/>
              </a:rPr>
              <a:t>По-голям initial load; понякога е нужен JavaScript interop.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Minimal APIs държат HTTP видим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 dirty="0" err="1">
                <a:solidFill>
                  <a:srgbClr val="A9B5C7"/>
                </a:solidFill>
                <a:latin typeface="Aptos"/>
              </a:rPr>
              <a:t>Малки</a:t>
            </a:r>
            <a:r>
              <a:rPr sz="1450" b="0" i="0" dirty="0">
                <a:solidFill>
                  <a:srgbClr val="A9B5C7"/>
                </a:solidFill>
                <a:latin typeface="Aptos"/>
              </a:rPr>
              <a:t> endpoints, </a:t>
            </a:r>
            <a:r>
              <a:rPr sz="1450" b="0" i="0" dirty="0" err="1">
                <a:solidFill>
                  <a:srgbClr val="A9B5C7"/>
                </a:solidFill>
                <a:latin typeface="Aptos"/>
              </a:rPr>
              <a:t>явни</a:t>
            </a:r>
            <a:r>
              <a:rPr sz="1450" b="0" i="0" dirty="0">
                <a:solidFill>
                  <a:srgbClr val="A9B5C7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A9B5C7"/>
                </a:solidFill>
                <a:latin typeface="Aptos"/>
              </a:rPr>
              <a:t>зависимости</a:t>
            </a:r>
            <a:r>
              <a:rPr sz="1450" b="0" i="0" dirty="0">
                <a:solidFill>
                  <a:srgbClr val="A9B5C7"/>
                </a:solidFill>
                <a:latin typeface="Aptos"/>
              </a:rPr>
              <a:t> и </a:t>
            </a:r>
            <a:r>
              <a:rPr sz="1450" b="0" i="0" dirty="0" err="1">
                <a:solidFill>
                  <a:srgbClr val="A9B5C7"/>
                </a:solidFill>
                <a:latin typeface="Aptos"/>
              </a:rPr>
              <a:t>без</a:t>
            </a:r>
            <a:r>
              <a:rPr sz="1450" b="0" i="0" dirty="0">
                <a:solidFill>
                  <a:srgbClr val="A9B5C7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A9B5C7"/>
                </a:solidFill>
                <a:latin typeface="Aptos"/>
              </a:rPr>
              <a:t>излишна</a:t>
            </a:r>
            <a:r>
              <a:rPr sz="1450" b="0" i="0" dirty="0">
                <a:solidFill>
                  <a:srgbClr val="A9B5C7"/>
                </a:solidFill>
                <a:latin typeface="Aptos"/>
              </a:rPr>
              <a:t> controller </a:t>
            </a:r>
            <a:r>
              <a:rPr sz="1450" b="0" i="0" dirty="0" err="1">
                <a:solidFill>
                  <a:srgbClr val="A9B5C7"/>
                </a:solidFill>
                <a:latin typeface="Aptos"/>
              </a:rPr>
              <a:t>церемония</a:t>
            </a:r>
            <a:r>
              <a:rPr sz="1450" b="0" i="0" dirty="0">
                <a:solidFill>
                  <a:srgbClr val="A9B5C7"/>
                </a:solidFill>
                <a:latin typeface="Apto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938528"/>
            <a:ext cx="2423160" cy="190195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2185416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2596896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F7F3EA"/>
                </a:solidFill>
                <a:latin typeface="Aptos Display"/>
              </a:rPr>
              <a:t>GET /api/movies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246120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A9B5C7"/>
                </a:solidFill>
                <a:latin typeface="Aptos"/>
              </a:rPr>
              <a:t>?page=1&amp;pageSize=12</a:t>
            </a:r>
          </a:p>
        </p:txBody>
      </p:sp>
      <p:sp>
        <p:nvSpPr>
          <p:cNvPr id="23" name="Chevron 22"/>
          <p:cNvSpPr/>
          <p:nvPr/>
        </p:nvSpPr>
        <p:spPr>
          <a:xfrm>
            <a:off x="3163824" y="2679192"/>
            <a:ext cx="228600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474720" y="1938528"/>
            <a:ext cx="2423160" cy="190195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2185416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2596896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F7F3EA"/>
                </a:solidFill>
                <a:latin typeface="Aptos Display"/>
              </a:rPr>
              <a:t>FluentValidation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246120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A9B5C7"/>
                </a:solidFill>
                <a:latin typeface="Aptos"/>
              </a:rPr>
              <a:t>Отхвърли лош paging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5980176" y="2679192"/>
            <a:ext cx="228600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91072" y="1938528"/>
            <a:ext cx="2423160" cy="190195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9672" y="2185416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HANDLE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2596896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F7F3EA"/>
                </a:solidFill>
                <a:latin typeface="Aptos Display"/>
              </a:rPr>
              <a:t>GetMovieListHandler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3246120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A9B5C7"/>
                </a:solidFill>
                <a:latin typeface="Aptos"/>
              </a:rPr>
              <a:t>Изпълни use case-а</a:t>
            </a:r>
          </a:p>
        </p:txBody>
      </p:sp>
      <p:sp>
        <p:nvSpPr>
          <p:cNvPr id="33" name="Chevron 32"/>
          <p:cNvSpPr/>
          <p:nvPr/>
        </p:nvSpPr>
        <p:spPr>
          <a:xfrm>
            <a:off x="8796528" y="2679192"/>
            <a:ext cx="228600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07424" y="1938528"/>
            <a:ext cx="2423160" cy="190195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397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36024" y="2185416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69CFF"/>
                </a:solidFill>
                <a:latin typeface="Cascadia Mono"/>
              </a:rPr>
              <a:t>RESPOND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024" y="2596896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F7F3EA"/>
                </a:solidFill>
                <a:latin typeface="Aptos Display"/>
              </a:rPr>
              <a:t>200 OK + 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3246120"/>
            <a:ext cx="19568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A9B5C7"/>
                </a:solidFill>
                <a:latin typeface="Aptos"/>
              </a:rPr>
              <a:t>DTOs през границата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4315968"/>
            <a:ext cx="6629400" cy="1234440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13232" y="4315968"/>
            <a:ext cx="6629400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77824" y="4434840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42415" y="4434840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207007" y="4434840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89888" y="4389120"/>
            <a:ext cx="5760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MovieTracker.API / Program.cs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" y="4846320"/>
            <a:ext cx="61722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app.MapGetMovieListEndpoint();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" y="5129783"/>
            <a:ext cx="617220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// route + handler + validator + response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4315968"/>
            <a:ext cx="3776472" cy="123444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00416" y="4517136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УЧЕБНА СТОЙНОСТ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0416" y="4864608"/>
            <a:ext cx="320040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Routes, вход, validation и status codes се намират лесно.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АРХИТЕКТУРА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Чистите граници контролират зависимостите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Центърът познава бизнеса; външният слой познава технологиите.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1792224"/>
            <a:ext cx="4224528" cy="4224528"/>
          </a:xfrm>
          <a:prstGeom prst="ellipse">
            <a:avLst/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2020824"/>
            <a:ext cx="42245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A9B5C7"/>
                </a:solidFill>
                <a:latin typeface="Cascadia Mono"/>
              </a:rPr>
              <a:t>API + INFRASTRUCTURE</a:t>
            </a:r>
          </a:p>
        </p:txBody>
      </p:sp>
      <p:sp>
        <p:nvSpPr>
          <p:cNvPr id="21" name="Oval 20"/>
          <p:cNvSpPr/>
          <p:nvPr/>
        </p:nvSpPr>
        <p:spPr>
          <a:xfrm>
            <a:off x="1362456" y="2221992"/>
            <a:ext cx="3364992" cy="3364992"/>
          </a:xfrm>
          <a:prstGeom prst="ellipse">
            <a:avLst/>
          </a:prstGeom>
          <a:solidFill>
            <a:srgbClr val="21324B"/>
          </a:solidFill>
          <a:ln w="12700">
            <a:solidFill>
              <a:srgbClr val="667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2456" y="2450592"/>
            <a:ext cx="33649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APPLICATION</a:t>
            </a:r>
          </a:p>
        </p:txBody>
      </p:sp>
      <p:sp>
        <p:nvSpPr>
          <p:cNvPr id="23" name="Oval 22"/>
          <p:cNvSpPr/>
          <p:nvPr/>
        </p:nvSpPr>
        <p:spPr>
          <a:xfrm>
            <a:off x="1874519" y="2734056"/>
            <a:ext cx="2340864" cy="2340864"/>
          </a:xfrm>
          <a:prstGeom prst="ellipse">
            <a:avLst/>
          </a:prstGeom>
          <a:solidFill>
            <a:srgbClr val="8C2938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74519" y="2962656"/>
            <a:ext cx="23408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7F3EA"/>
                </a:solidFill>
                <a:latin typeface="Cascadia Mono"/>
              </a:rPr>
              <a:t>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984" y="3410712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Movie
бизнес правила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43984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0D2C2"/>
                </a:solidFill>
                <a:latin typeface="Aptos Display"/>
              </a:rPr>
              <a:t>Зависимостите сочат навътре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1755648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43600" y="1755648"/>
            <a:ext cx="1234440" cy="658368"/>
          </a:xfrm>
          <a:prstGeom prst="roundRect">
            <a:avLst>
              <a:gd name="adj" fmla="val 8000"/>
            </a:avLst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0" y="1755648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E17"/>
                </a:solidFill>
                <a:latin typeface="Cascadia Mono"/>
              </a:rPr>
              <a:t>DOMAIN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911095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7F3EA"/>
                </a:solidFill>
                <a:latin typeface="Aptos"/>
              </a:rPr>
              <a:t>Entities, enums, чисти бизнес правила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2542032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943600" y="2542032"/>
            <a:ext cx="1234440" cy="658368"/>
          </a:xfrm>
          <a:prstGeom prst="roundRect">
            <a:avLst>
              <a:gd name="adj" fmla="val 8000"/>
            </a:avLst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42032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E17"/>
                </a:solidFill>
                <a:latin typeface="Cascadia Mono"/>
              </a:rPr>
              <a:t>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697479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7F3EA"/>
                </a:solidFill>
                <a:latin typeface="Aptos"/>
              </a:rPr>
              <a:t>Use cases, validation, DTOs, interfaces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3328415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943600" y="3328415"/>
            <a:ext cx="1234440" cy="658368"/>
          </a:xfrm>
          <a:prstGeom prst="roundRect">
            <a:avLst>
              <a:gd name="adj" fmla="val 8000"/>
            </a:avLst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0" y="3328415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E17"/>
                </a:solidFill>
                <a:latin typeface="Cascadia Mono"/>
              </a:rPr>
              <a:t>INFRASTRUCTURE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483863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7F3EA"/>
                </a:solidFill>
                <a:latin typeface="Aptos"/>
              </a:rPr>
              <a:t>Repositories, EF Core, PostgreSQL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4114800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943600" y="4114800"/>
            <a:ext cx="1234440" cy="658368"/>
          </a:xfrm>
          <a:prstGeom prst="roundRect">
            <a:avLst>
              <a:gd name="adj" fmla="val 8000"/>
            </a:avLst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4114800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E17"/>
                </a:solidFill>
                <a:latin typeface="Cascadia Mono"/>
              </a:rPr>
              <a:t>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4270248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7F3EA"/>
                </a:solidFill>
                <a:latin typeface="Aptos"/>
              </a:rPr>
              <a:t>Composition root и endpoint mapping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0" y="4901184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943600" y="4901184"/>
            <a:ext cx="1234440" cy="658368"/>
          </a:xfrm>
          <a:prstGeom prst="roundRect">
            <a:avLst>
              <a:gd name="adj" fmla="val 8000"/>
            </a:avLst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0" y="4901184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A0E17"/>
                </a:solidFill>
                <a:latin typeface="Cascadia Mono"/>
              </a:rPr>
              <a:t>WEB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5056632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7F3EA"/>
                </a:solidFill>
                <a:latin typeface="Aptos"/>
              </a:rPr>
              <a:t>Standalone Blazor client; само HTTP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58064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4C95D"/>
                </a:solidFill>
                <a:latin typeface="Aptos Display"/>
              </a:rPr>
              <a:t>Тест на границата: може ли Application без PostgreSQL? 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АРХИТЕКТУРА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Vertical slices организират по промяна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Request, validation, mapping, endpoint и handler на една функция стоят близо.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1691640"/>
            <a:ext cx="32918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ВМЕСТО ЛОВ ИЗ ТЕХНИЧЕСКИ ПАПКИ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2039112"/>
            <a:ext cx="2834640" cy="47548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2039112"/>
            <a:ext cx="64008" cy="475488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214884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A9B5C7"/>
                </a:solidFill>
                <a:latin typeface="Cascadia Mono"/>
              </a:rPr>
              <a:t>Controllers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596896"/>
            <a:ext cx="2834640" cy="47548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2596896"/>
            <a:ext cx="64008" cy="475488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2706624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A9B5C7"/>
                </a:solidFill>
                <a:latin typeface="Cascadia Mono"/>
              </a:rPr>
              <a:t>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154679"/>
            <a:ext cx="2834640" cy="47548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3232" y="3154679"/>
            <a:ext cx="64008" cy="475488"/>
          </a:xfrm>
          <a:prstGeom prst="rect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3264408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A9B5C7"/>
                </a:solidFill>
                <a:latin typeface="Cascadia Mono"/>
              </a:rPr>
              <a:t>Validators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712463"/>
            <a:ext cx="2834640" cy="47548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3232" y="3712463"/>
            <a:ext cx="64008" cy="475488"/>
          </a:xfrm>
          <a:prstGeom prst="rect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" y="3822191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A9B5C7"/>
                </a:solidFill>
                <a:latin typeface="Cascadia Mono"/>
              </a:rPr>
              <a:t>Mappings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425696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A9B5C7"/>
                </a:solidFill>
                <a:latin typeface="Aptos Display"/>
              </a:rPr>
              <a:t>Една промяна докосва
много несвързани папки</a:t>
            </a:r>
          </a:p>
        </p:txBody>
      </p:sp>
      <p:sp>
        <p:nvSpPr>
          <p:cNvPr id="33" name="Chevron 32"/>
          <p:cNvSpPr/>
          <p:nvPr/>
        </p:nvSpPr>
        <p:spPr>
          <a:xfrm>
            <a:off x="3904487" y="2907792"/>
            <a:ext cx="512064" cy="658368"/>
          </a:xfrm>
          <a:prstGeom prst="chevron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0" y="1691640"/>
            <a:ext cx="32918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Aptos"/>
              </a:rPr>
              <a:t>ГРУПИРАЙ ЕДИН USE CASE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36592" y="1993392"/>
            <a:ext cx="3044952" cy="334670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524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10912" y="2240280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0D2C2"/>
                </a:solidFill>
                <a:latin typeface="Cascadia Mono"/>
              </a:rPr>
              <a:t>Movies / GetMovieList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10912" y="2743200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84648" y="2834640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7F3EA"/>
                </a:solidFill>
                <a:latin typeface="Cascadia Mono"/>
              </a:rPr>
              <a:t>GetMovieList.cs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10912" y="3273552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84648" y="3364992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5C7"/>
                </a:solidFill>
                <a:latin typeface="Cascadia Mono"/>
              </a:rPr>
              <a:t>…Validation.cs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10912" y="3803904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84648" y="3895344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5C7"/>
                </a:solidFill>
                <a:latin typeface="Cascadia Mono"/>
              </a:rPr>
              <a:t>…Mapping.cs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10912" y="4334256"/>
            <a:ext cx="2487168" cy="393192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84648" y="4425696"/>
            <a:ext cx="2148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5C7"/>
                </a:solidFill>
                <a:latin typeface="Cascadia Mono"/>
              </a:rPr>
              <a:t>…Endpoint.cs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974336"/>
            <a:ext cx="24323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4C95D"/>
                </a:solidFill>
                <a:latin typeface="Aptos"/>
              </a:rPr>
              <a:t>променя се заедно • тества се заедно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56448" y="1993392"/>
            <a:ext cx="3291840" cy="334670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30768" y="2249424"/>
            <a:ext cx="2724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C95D"/>
                </a:solidFill>
                <a:latin typeface="Cascadia Mono"/>
              </a:rPr>
              <a:t>ЗАЩО РАБОТИ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8" y="2724912"/>
            <a:ext cx="2697480" cy="2157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20" b="1" dirty="0">
                <a:solidFill>
                  <a:srgbClr val="50D2C2"/>
                </a:solidFill>
                <a:latin typeface="Aptos"/>
              </a:rPr>
              <a:t>✓  </a:t>
            </a:r>
            <a:r>
              <a:rPr sz="1520" dirty="0" err="1">
                <a:solidFill>
                  <a:srgbClr val="F7F3EA"/>
                </a:solidFill>
                <a:latin typeface="Aptos"/>
              </a:rPr>
              <a:t>Висока</a:t>
            </a:r>
            <a:r>
              <a:rPr sz="1520" dirty="0">
                <a:solidFill>
                  <a:srgbClr val="F7F3EA"/>
                </a:solidFill>
                <a:latin typeface="Aptos"/>
              </a:rPr>
              <a:t> cohesion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20" b="1" dirty="0">
                <a:solidFill>
                  <a:srgbClr val="50D2C2"/>
                </a:solidFill>
                <a:latin typeface="Aptos"/>
              </a:rPr>
              <a:t>✓  </a:t>
            </a:r>
            <a:r>
              <a:rPr sz="1520" dirty="0" err="1">
                <a:solidFill>
                  <a:srgbClr val="F7F3EA"/>
                </a:solidFill>
                <a:latin typeface="Aptos"/>
              </a:rPr>
              <a:t>По-малко</a:t>
            </a:r>
            <a:r>
              <a:rPr sz="1520" dirty="0">
                <a:solidFill>
                  <a:srgbClr val="F7F3EA"/>
                </a:solidFill>
                <a:latin typeface="Aptos"/>
              </a:rPr>
              <a:t> coupling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20" b="1" dirty="0">
                <a:solidFill>
                  <a:srgbClr val="50D2C2"/>
                </a:solidFill>
                <a:latin typeface="Aptos"/>
              </a:rPr>
              <a:t>✓  </a:t>
            </a:r>
            <a:r>
              <a:rPr sz="1520" dirty="0" err="1">
                <a:solidFill>
                  <a:srgbClr val="F7F3EA"/>
                </a:solidFill>
                <a:latin typeface="Aptos"/>
              </a:rPr>
              <a:t>Лесна</a:t>
            </a:r>
            <a:r>
              <a:rPr sz="1520" dirty="0">
                <a:solidFill>
                  <a:srgbClr val="F7F3EA"/>
                </a:solidFill>
                <a:latin typeface="Aptos"/>
              </a:rPr>
              <a:t> </a:t>
            </a:r>
            <a:r>
              <a:rPr sz="1520" dirty="0" err="1">
                <a:solidFill>
                  <a:srgbClr val="F7F3EA"/>
                </a:solidFill>
                <a:latin typeface="Aptos"/>
              </a:rPr>
              <a:t>навигация</a:t>
            </a:r>
            <a:endParaRPr sz="1520" dirty="0">
              <a:solidFill>
                <a:srgbClr val="F7F3EA"/>
              </a:solidFill>
              <a:latin typeface="Aptos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20" b="1" dirty="0">
                <a:solidFill>
                  <a:srgbClr val="50D2C2"/>
                </a:solidFill>
                <a:latin typeface="Aptos"/>
              </a:rPr>
              <a:t>✓  </a:t>
            </a:r>
            <a:r>
              <a:rPr sz="1520" dirty="0">
                <a:solidFill>
                  <a:srgbClr val="F7F3EA"/>
                </a:solidFill>
                <a:latin typeface="Aptos"/>
              </a:rPr>
              <a:t>Feature-focused tests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20" b="1" dirty="0">
                <a:solidFill>
                  <a:srgbClr val="50D2C2"/>
                </a:solidFill>
                <a:latin typeface="Aptos"/>
              </a:rPr>
              <a:t>✓  </a:t>
            </a:r>
            <a:r>
              <a:rPr sz="1520" dirty="0" err="1">
                <a:solidFill>
                  <a:srgbClr val="F7F3EA"/>
                </a:solidFill>
                <a:latin typeface="Aptos"/>
              </a:rPr>
              <a:t>Малки</a:t>
            </a:r>
            <a:r>
              <a:rPr sz="1520" dirty="0">
                <a:solidFill>
                  <a:srgbClr val="F7F3EA"/>
                </a:solidFill>
                <a:latin typeface="Aptos"/>
              </a:rPr>
              <a:t> reviewable </a:t>
            </a:r>
            <a:r>
              <a:rPr sz="1520" dirty="0" err="1">
                <a:solidFill>
                  <a:srgbClr val="F7F3EA"/>
                </a:solidFill>
                <a:latin typeface="Aptos"/>
              </a:rPr>
              <a:t>промени</a:t>
            </a:r>
            <a:endParaRPr sz="1520" dirty="0">
              <a:solidFill>
                <a:srgbClr val="F7F3EA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13232" y="5650992"/>
            <a:ext cx="10716768" cy="438912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5751576"/>
            <a:ext cx="10716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Vertical slice не отменя архитектурните граници — работи вътре в тях.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ДАННИ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Какво е Entity Framework Core?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ORM: превежда между C# обекти и релационни данни.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847088"/>
            <a:ext cx="2852928" cy="21579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2084831"/>
            <a:ext cx="23408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C# / DOMAIN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542032"/>
            <a:ext cx="2432304" cy="1115568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2724912"/>
            <a:ext cx="197510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Movie movie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08376"/>
            <a:ext cx="197510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movie.Title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291840"/>
            <a:ext cx="197510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movies.Where(...)  // LINQ</a:t>
            </a:r>
          </a:p>
        </p:txBody>
      </p:sp>
      <p:sp>
        <p:nvSpPr>
          <p:cNvPr id="25" name="Chevron 24"/>
          <p:cNvSpPr/>
          <p:nvPr/>
        </p:nvSpPr>
        <p:spPr>
          <a:xfrm>
            <a:off x="3794760" y="2642616"/>
            <a:ext cx="475488" cy="658368"/>
          </a:xfrm>
          <a:prstGeom prst="chevron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62272" y="1847088"/>
            <a:ext cx="2761488" cy="21579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1728" y="2084831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EF CORE ПРЕВЕЖДА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615184"/>
            <a:ext cx="2029968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F4C95D"/>
                </a:solidFill>
                <a:latin typeface="Aptos"/>
              </a:rPr>
              <a:t>→  </a:t>
            </a:r>
            <a:r>
              <a:rPr sz="1450">
                <a:solidFill>
                  <a:srgbClr val="F7F3EA"/>
                </a:solidFill>
                <a:latin typeface="Aptos"/>
              </a:rPr>
              <a:t>LINQ → SQL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F4C95D"/>
                </a:solidFill>
                <a:latin typeface="Aptos"/>
              </a:rPr>
              <a:t>→  </a:t>
            </a:r>
            <a:r>
              <a:rPr sz="1450">
                <a:solidFill>
                  <a:srgbClr val="F7F3EA"/>
                </a:solidFill>
                <a:latin typeface="Aptos"/>
              </a:rPr>
              <a:t>Обекти ↔ rows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F4C95D"/>
                </a:solidFill>
                <a:latin typeface="Aptos"/>
              </a:rPr>
              <a:t>→  </a:t>
            </a:r>
            <a:r>
              <a:rPr sz="1450">
                <a:solidFill>
                  <a:srgbClr val="F7F3EA"/>
                </a:solidFill>
                <a:latin typeface="Aptos"/>
              </a:rPr>
              <a:t>Migrations → schema</a:t>
            </a:r>
          </a:p>
        </p:txBody>
      </p:sp>
      <p:sp>
        <p:nvSpPr>
          <p:cNvPr id="29" name="Chevron 28"/>
          <p:cNvSpPr/>
          <p:nvPr/>
        </p:nvSpPr>
        <p:spPr>
          <a:xfrm>
            <a:off x="7479792" y="2642616"/>
            <a:ext cx="475488" cy="658368"/>
          </a:xfrm>
          <a:prstGeom prst="chevron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38160" y="1847088"/>
            <a:ext cx="3236976" cy="21579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2084831"/>
            <a:ext cx="26883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POSTGRESQL / ДАННИ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2542032"/>
            <a:ext cx="2688336" cy="1115568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1080" y="2724912"/>
            <a:ext cx="2231136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movies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008376"/>
            <a:ext cx="2231136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79A9FF"/>
                </a:solidFill>
                <a:latin typeface="Cascadia Mono"/>
              </a:rPr>
              <a:t>id | title | genre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291840"/>
            <a:ext cx="2231136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…  | Arrival | SciFi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" y="4416552"/>
            <a:ext cx="6565392" cy="107899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B6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" y="460857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69CFF"/>
                </a:solidFill>
                <a:latin typeface="Cascadia Mono"/>
              </a:rPr>
              <a:t>ЗАЩО ГО ИЗБИРАМЕ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965192"/>
            <a:ext cx="5989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Type-safe queries, явна конфигурация и versioned schema промени.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34656" y="4416552"/>
            <a:ext cx="3840480" cy="107899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0" y="4608576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КОГА?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946904"/>
            <a:ext cx="3255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Упражнение 03 — дотогава данните са в паметта нарочно.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0D2C2"/>
                </a:solidFill>
                <a:latin typeface="Cascadia Mono"/>
              </a:rPr>
              <a:t>НА ЖИВО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51560"/>
            <a:ext cx="6949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7F3EA"/>
                </a:solidFill>
                <a:latin typeface="Aptos Display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057400"/>
            <a:ext cx="6995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4C95D"/>
                </a:solidFill>
                <a:latin typeface="Aptos Display"/>
              </a:rPr>
              <a:t>MovieTracker: от екрана до request-а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6720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9B5C7"/>
                </a:solidFill>
                <a:latin typeface="Aptos"/>
              </a:rPr>
              <a:t>Кратка обиколка на интерфейса и единствения реален end-to-end път в упражнение 01.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658368"/>
            <a:ext cx="3456432" cy="541324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524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88552" y="1060704"/>
            <a:ext cx="1207008" cy="1207008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8552" y="1060704"/>
            <a:ext cx="1207008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A0E17"/>
                </a:solidFill>
                <a:latin typeface="Aptos Display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51176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КАКВО ДА СЛЕДИМ</a:t>
            </a:r>
          </a:p>
        </p:txBody>
      </p:sp>
      <p:sp>
        <p:nvSpPr>
          <p:cNvPr id="24" name="Oval 23"/>
          <p:cNvSpPr/>
          <p:nvPr/>
        </p:nvSpPr>
        <p:spPr>
          <a:xfrm>
            <a:off x="8339327" y="3054096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30540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7238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Какво вижда потребителят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7" y="3712463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7" y="3712463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730751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Кои екрани са preview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7" y="4370831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437083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89119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GET /api/movies от край до край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" y="4956048"/>
            <a:ext cx="6537960" cy="7863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14807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Гледайте процеса. След това го повтаряме заедно.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GITHUB ОСНОВИ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Git помни; GitHub споделя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Първо разделяме двете понятия, после ги използваме заедно.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1847088"/>
            <a:ext cx="5029200" cy="2011680"/>
          </a:xfrm>
          <a:prstGeom prst="roundRect">
            <a:avLst>
              <a:gd name="adj" fmla="val 8000"/>
            </a:avLst>
          </a:prstGeom>
          <a:solidFill>
            <a:srgbClr val="050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" y="1783080"/>
            <a:ext cx="5029200" cy="20116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1783080"/>
            <a:ext cx="64008" cy="201168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1965960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4C95D"/>
                </a:solidFill>
                <a:latin typeface="Cascadia Mono"/>
              </a:rPr>
              <a:t>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2350008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7F3EA"/>
                </a:solidFill>
                <a:latin typeface="Aptos Display"/>
              </a:rPr>
              <a:t>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2880360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9B5C7"/>
                </a:solidFill>
                <a:latin typeface="Aptos"/>
              </a:rPr>
              <a:t>Локална история на кода: commits, branches, сравнения и връщане към предишно състояние.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62472" y="1847088"/>
            <a:ext cx="5029200" cy="2011680"/>
          </a:xfrm>
          <a:prstGeom prst="roundRect">
            <a:avLst>
              <a:gd name="adj" fmla="val 8000"/>
            </a:avLst>
          </a:prstGeom>
          <a:solidFill>
            <a:srgbClr val="0507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016752" y="1783080"/>
            <a:ext cx="5029200" cy="201168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16752" y="1783080"/>
            <a:ext cx="64008" cy="2011680"/>
          </a:xfrm>
          <a:prstGeom prst="rect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5352" y="1965960"/>
            <a:ext cx="594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0D2C2"/>
                </a:solidFill>
                <a:latin typeface="Cascadia Mono"/>
              </a:rPr>
              <a:t>REMOTE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2350008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7F3EA"/>
                </a:solidFill>
                <a:latin typeface="Aptos Display"/>
              </a:rPr>
              <a:t>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2880360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9B5C7"/>
                </a:solidFill>
                <a:latin typeface="Aptos"/>
              </a:rPr>
              <a:t>Отдалечено място за repositories, споделяне, pull requests, review и видим напредък.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4297680"/>
            <a:ext cx="9646920" cy="100584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72768" y="4480560"/>
            <a:ext cx="19019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ЕДНА ИДЕЯ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8144" y="4443984"/>
            <a:ext cx="711403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7F3EA"/>
                </a:solidFill>
                <a:latin typeface="Aptos Display"/>
              </a:rPr>
              <a:t>Работим локално с Git; публикуваме и сътрудничим чрез GitHub.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33872"/>
            <a:ext cx="105704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Repository ≠ folder в облака. То е история, контекст и общ договор за работа.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GITHUB ОСНОВИ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SSH ключът доказва коя машина е ваша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Свързваме Git с GitHub без да въвеждаме парола при всеки push.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55648"/>
            <a:ext cx="4800600" cy="3977639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1993392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ДВОЙКА КЛЮЧОВЕ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" y="2542032"/>
            <a:ext cx="4270248" cy="640080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43000" y="2697479"/>
            <a:ext cx="932688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2706623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05263"/>
                </a:solidFill>
                <a:latin typeface="Aptos"/>
              </a:rPr>
              <a:t>PRIVATE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2688336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Остава само на компютъра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" y="3383279"/>
            <a:ext cx="4270248" cy="640080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43000" y="3538727"/>
            <a:ext cx="932688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8DD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3547871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8DD694"/>
                </a:solidFill>
                <a:latin typeface="Aptos"/>
              </a:rPr>
              <a:t>PUBLIC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4288" y="352958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Копира се в GitHub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" y="4224528"/>
            <a:ext cx="4270248" cy="640080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143000" y="4379976"/>
            <a:ext cx="932688" cy="3291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4389120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79A9FF"/>
                </a:solidFill>
                <a:latin typeface="Aptos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4288" y="437083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GitHub потвърждава връзката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" y="5239512"/>
            <a:ext cx="4261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05263"/>
                </a:solidFill>
                <a:latin typeface="Aptos Display"/>
              </a:rPr>
              <a:t>Никога не споделяйте private key.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15584" y="1755648"/>
            <a:ext cx="5577840" cy="3977639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815584" y="1755648"/>
            <a:ext cx="5577840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980176" y="1874519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144768" y="1874519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309360" y="1874519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1828800"/>
            <a:ext cx="470915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PowerShell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44184" y="2286000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ssh-keygen -t ed25519 -C "you@example.com"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44184" y="2569464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44184" y="2852928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# Покажи public key: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44184" y="3136392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Get-Content $env:USERPROFILE\.ssh\id_ed25519.pub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44184" y="3419856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44184" y="3703320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# GitHub → Settings → SSH and GPG keys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4184" y="3986783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44184" y="4270247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# Провери връзката: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4184" y="4553711"/>
            <a:ext cx="51206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 dirty="0">
                <a:solidFill>
                  <a:srgbClr val="79A9FF"/>
                </a:solidFill>
                <a:latin typeface="Cascadia Mono"/>
              </a:rPr>
              <a:t>ssh -T git@github.com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GITHUB ОСНОВИ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Branch, commit, push — трите ежедневни действия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Изолираме идея, записваме смислена стъпка, после я споделяме.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810512"/>
            <a:ext cx="3182112" cy="15727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2039112"/>
            <a:ext cx="475488" cy="475488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0391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2084831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79A9FF"/>
                </a:solidFill>
                <a:latin typeface="Cascadia Mono"/>
              </a:rPr>
              <a:t>BRANCH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6700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Отделна линия за една задача</a:t>
            </a:r>
          </a:p>
        </p:txBody>
      </p:sp>
      <p:sp>
        <p:nvSpPr>
          <p:cNvPr id="24" name="Chevron 23"/>
          <p:cNvSpPr/>
          <p:nvPr/>
        </p:nvSpPr>
        <p:spPr>
          <a:xfrm>
            <a:off x="3995928" y="2395728"/>
            <a:ext cx="228600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416552" y="1810512"/>
            <a:ext cx="3182112" cy="15727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17720" y="2039112"/>
            <a:ext cx="475488" cy="475488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20391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2084831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4C95D"/>
                </a:solidFill>
                <a:latin typeface="Cascadia Mono"/>
              </a:rPr>
              <a:t>COMMIT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6700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Локален checkpoint с послание</a:t>
            </a:r>
          </a:p>
        </p:txBody>
      </p:sp>
      <p:sp>
        <p:nvSpPr>
          <p:cNvPr id="30" name="Chevron 29"/>
          <p:cNvSpPr/>
          <p:nvPr/>
        </p:nvSpPr>
        <p:spPr>
          <a:xfrm>
            <a:off x="7699248" y="2395728"/>
            <a:ext cx="228600" cy="384048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19871" y="1810512"/>
            <a:ext cx="3182112" cy="157276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321040" y="2039112"/>
            <a:ext cx="475488" cy="475488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20391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7" y="2084831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50D2C2"/>
                </a:solidFill>
                <a:latin typeface="Cascadia Mono"/>
              </a:rPr>
              <a:t>PUSH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6700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Изпращане към GitHub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3675887"/>
            <a:ext cx="6492240" cy="1993392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13232" y="3675887"/>
            <a:ext cx="6492240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77824" y="3794759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42415" y="3794759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207007" y="3794759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89888" y="3749039"/>
            <a:ext cx="562355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Един малък, видим цикъл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4288535"/>
            <a:ext cx="6035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 dirty="0">
                <a:solidFill>
                  <a:srgbClr val="A9B5C7"/>
                </a:solidFill>
                <a:latin typeface="Cascadia Mono"/>
              </a:rPr>
              <a:t>git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" y="4626864"/>
            <a:ext cx="6035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 dirty="0">
                <a:solidFill>
                  <a:srgbClr val="F4C95D"/>
                </a:solidFill>
                <a:latin typeface="Cascadia Mono"/>
              </a:rPr>
              <a:t>git add 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" y="4974336"/>
            <a:ext cx="6035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 dirty="0">
                <a:solidFill>
                  <a:srgbClr val="F7F3EA"/>
                </a:solidFill>
                <a:latin typeface="Cascadia Mono"/>
              </a:rPr>
              <a:t>git commit -m "docs: complete lecture 01 setup"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" y="5340095"/>
            <a:ext cx="6035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git push -u origin lecture-01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16368" y="3675887"/>
            <a:ext cx="3877056" cy="199339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72400" y="3941063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ДОБЪР НАВИК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343400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7F3EA"/>
                </a:solidFill>
                <a:latin typeface="Aptos Display"/>
              </a:rPr>
              <a:t>Един branch = една цел.
Един commit = една обяснима стъпка.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GITHUB ОСНОВИ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Ново празно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Целта е чист remote, към който ще push-нем локален проект.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773936"/>
            <a:ext cx="4096512" cy="74980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1938528"/>
            <a:ext cx="420624" cy="420624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1938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1892807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F05263"/>
                </a:solidFill>
                <a:latin typeface="Cascadia Mono"/>
              </a:rPr>
              <a:t>NEW 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2185416"/>
            <a:ext cx="2962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F7F3EA"/>
                </a:solidFill>
                <a:latin typeface="Aptos Display"/>
              </a:rPr>
              <a:t>GitHub → + → New repository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2688336"/>
            <a:ext cx="4096512" cy="74980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4400" y="2852928"/>
            <a:ext cx="420624" cy="420624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28529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7904" y="2807208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79A9FF"/>
                </a:solidFill>
                <a:latin typeface="Cascadia Mono"/>
              </a:rPr>
              <a:t>ИМЕ +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7904" y="3099816"/>
            <a:ext cx="2962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F7F3EA"/>
                </a:solidFill>
                <a:latin typeface="Aptos Display"/>
              </a:rPr>
              <a:t>Ясно име; Public или Private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602736"/>
            <a:ext cx="4096512" cy="74980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4400" y="3767328"/>
            <a:ext cx="420624" cy="420624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7673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7904" y="3721608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F4C95D"/>
                </a:solidFill>
                <a:latin typeface="Cascadia Mono"/>
              </a:rPr>
              <a:t>ОСТАВА ПРАЗНО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7904" y="4014215"/>
            <a:ext cx="2962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F7F3EA"/>
                </a:solidFill>
                <a:latin typeface="Aptos Display"/>
              </a:rPr>
              <a:t>Без README, .gitignore и license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517136"/>
            <a:ext cx="4096512" cy="74980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14400" y="4681727"/>
            <a:ext cx="420624" cy="420624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68172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7904" y="4636007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 i="0">
                <a:solidFill>
                  <a:srgbClr val="50D2C2"/>
                </a:solidFill>
                <a:latin typeface="Cascadia Mono"/>
              </a:rPr>
              <a:t>CREATE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7904" y="4928616"/>
            <a:ext cx="2962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F7F3EA"/>
                </a:solidFill>
                <a:latin typeface="Aptos Display"/>
              </a:rPr>
              <a:t>Копираме SSH remote адреса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1773936"/>
            <a:ext cx="6272784" cy="3749039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120640" y="1773936"/>
            <a:ext cx="6272784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285231" y="1892807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449823" y="1892807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614416" y="1892807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97296" y="1847088"/>
            <a:ext cx="540410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Локален проект → празно GitHub repository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2304288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79A9FF"/>
                </a:solidFill>
                <a:latin typeface="Cascadia Mono"/>
              </a:rPr>
              <a:t>git init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2587752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git add 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2871216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git commit -m "chore: initial commit"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3154680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B69CFF"/>
                </a:solidFill>
                <a:latin typeface="Cascadia Mono"/>
              </a:rPr>
              <a:t>git branch -M main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3438144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git remote add origin git@github.com:USER/REPO.git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9240" y="3721608"/>
            <a:ext cx="581558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git push -u origin main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815584"/>
            <a:ext cx="10561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A9B5C7"/>
                </a:solidFill>
                <a:latin typeface="Aptos"/>
              </a:rPr>
              <a:t>Празно remote repo избягва конфликт между две независими начални истории.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5263"/>
                </a:solidFill>
                <a:latin typeface="Cascadia Mono"/>
              </a:rPr>
              <a:t>НА ЖИВО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51560"/>
            <a:ext cx="6949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7F3EA"/>
                </a:solidFill>
                <a:latin typeface="Aptos Display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057400"/>
            <a:ext cx="6995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4C95D"/>
                </a:solidFill>
                <a:latin typeface="Aptos Display"/>
              </a:rPr>
              <a:t>SSH ключ + първо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6720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9B5C7"/>
                </a:solidFill>
                <a:latin typeface="Aptos"/>
              </a:rPr>
              <a:t>От локална папка до branch и видим commit в GitHub.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658368"/>
            <a:ext cx="3456432" cy="541324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524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88552" y="1060704"/>
            <a:ext cx="1207008" cy="1207008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8552" y="1060704"/>
            <a:ext cx="1207008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A0E17"/>
                </a:solidFill>
                <a:latin typeface="Aptos Display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51176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КАКВО ДА СЛЕДИМ</a:t>
            </a:r>
          </a:p>
        </p:txBody>
      </p:sp>
      <p:sp>
        <p:nvSpPr>
          <p:cNvPr id="24" name="Oval 23"/>
          <p:cNvSpPr/>
          <p:nvPr/>
        </p:nvSpPr>
        <p:spPr>
          <a:xfrm>
            <a:off x="8339327" y="3054096"/>
            <a:ext cx="347472" cy="34747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30540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7238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Authentication през SSH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7" y="3712463"/>
            <a:ext cx="347472" cy="34747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7" y="3712463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730751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Празно remote repository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7" y="4370831"/>
            <a:ext cx="347472" cy="34747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437083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89119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Branch → commit → push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" y="4956048"/>
            <a:ext cx="6537960" cy="7863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14807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Гледайте процеса. След това го повтаряме заедно.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MOVIETRACKER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Оттук изтегляме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Един официален източник за кода, упражненията и правилата на курса.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83080"/>
            <a:ext cx="10661904" cy="121615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524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1993392"/>
            <a:ext cx="15361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HTTPS /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1938528"/>
            <a:ext cx="818387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 b="1" i="0" dirty="0">
                <a:solidFill>
                  <a:srgbClr val="F7F3EA"/>
                </a:solidFill>
                <a:latin typeface="Cascadia Mono"/>
                <a:hlinkClick r:id="rId3"/>
              </a:rPr>
              <a:t>https://github.com/teomihov/MovieTracker</a:t>
            </a:r>
            <a:endParaRPr sz="1500" b="1" i="0" dirty="0">
              <a:solidFill>
                <a:srgbClr val="F7F3EA"/>
              </a:solidFill>
              <a:latin typeface="Cascadia Mono"/>
              <a:hlinkClick r:id="rId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2468880"/>
            <a:ext cx="15361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SSH / CLONE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2441448"/>
            <a:ext cx="8183879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 dirty="0" err="1">
                <a:solidFill>
                  <a:srgbClr val="F4C95D"/>
                </a:solidFill>
                <a:latin typeface="Cascadia Mono"/>
              </a:rPr>
              <a:t>git@github.com:teomihov</a:t>
            </a:r>
            <a:r>
              <a:rPr sz="1320" b="1" i="0" dirty="0">
                <a:solidFill>
                  <a:srgbClr val="F4C95D"/>
                </a:solidFill>
                <a:latin typeface="Cascadia Mono"/>
              </a:rPr>
              <a:t>/</a:t>
            </a:r>
            <a:r>
              <a:rPr sz="1320" b="1" i="0" dirty="0" err="1">
                <a:solidFill>
                  <a:srgbClr val="F4C95D"/>
                </a:solidFill>
                <a:latin typeface="Cascadia Mono"/>
              </a:rPr>
              <a:t>MovieTracker.git</a:t>
            </a:r>
            <a:endParaRPr sz="1320" b="1" i="0" dirty="0">
              <a:solidFill>
                <a:srgbClr val="F4C95D"/>
              </a:solidFill>
              <a:latin typeface="Cascadia Mono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13232" y="3465576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703320"/>
            <a:ext cx="2084831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79A9FF"/>
                </a:solidFill>
                <a:latin typeface="Cascadia Mono"/>
              </a:rPr>
              <a:t>README.md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Какво е готово и как се стартира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465576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75887" y="3703320"/>
            <a:ext cx="2084831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5263"/>
                </a:solidFill>
                <a:latin typeface="Cascadia Mono"/>
              </a:rPr>
              <a:t>src/01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7" y="4160520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Началната версия за първото упражнение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465576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37376" y="3703320"/>
            <a:ext cx="2084831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0D2C2"/>
                </a:solidFill>
                <a:latin typeface="Cascadia Mono"/>
              </a:rPr>
              <a:t>exercises/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4160520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Задачи и самостоятелна работа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3465576"/>
            <a:ext cx="2487168" cy="14813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98864" y="3703320"/>
            <a:ext cx="2084831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69CFF"/>
                </a:solidFill>
                <a:latin typeface="Cascadia Mono"/>
              </a:rPr>
              <a:t>codex/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4160520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Архитектурни и еволюционни правила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44752" y="5358384"/>
            <a:ext cx="9253728" cy="566928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44752" y="5495544"/>
            <a:ext cx="9253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7F3EA"/>
                </a:solidFill>
                <a:latin typeface="Aptos Display"/>
              </a:rPr>
              <a:t>Днес работим със src/01 — не прескачаме към готовите бъдещи упражнения.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ПЪРВО СТАРТИРАНЕ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Clone → restore → build →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Преди да пускаме UI, доказваме че работната среда е здрава.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73936"/>
            <a:ext cx="6949440" cy="3639312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4944" y="1773936"/>
            <a:ext cx="6949440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9536" y="1892807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4127" y="1892807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19" y="1892807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1847088"/>
            <a:ext cx="608075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PowerShell — избрана работна папка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2304288"/>
            <a:ext cx="6492240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 dirty="0">
                <a:solidFill>
                  <a:srgbClr val="50D2C2"/>
                </a:solidFill>
                <a:latin typeface="Cascadia Mono"/>
              </a:rPr>
              <a:t>git clone </a:t>
            </a:r>
            <a:r>
              <a:rPr sz="1220" b="0" i="0" dirty="0" err="1">
                <a:solidFill>
                  <a:srgbClr val="50D2C2"/>
                </a:solidFill>
                <a:latin typeface="Cascadia Mono"/>
              </a:rPr>
              <a:t>git@github.com:teomihov</a:t>
            </a:r>
            <a:r>
              <a:rPr sz="1220" b="0" i="0" dirty="0">
                <a:solidFill>
                  <a:srgbClr val="50D2C2"/>
                </a:solidFill>
                <a:latin typeface="Cascadia Mono"/>
              </a:rPr>
              <a:t>/</a:t>
            </a:r>
            <a:r>
              <a:rPr sz="1220" b="0" i="0" dirty="0" err="1">
                <a:solidFill>
                  <a:srgbClr val="50D2C2"/>
                </a:solidFill>
                <a:latin typeface="Cascadia Mono"/>
              </a:rPr>
              <a:t>MovieTracker.git</a:t>
            </a:r>
            <a:endParaRPr sz="1220" b="0" i="0" dirty="0">
              <a:solidFill>
                <a:srgbClr val="50D2C2"/>
              </a:solidFill>
              <a:latin typeface="Cascadia Mon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3544" y="2587752"/>
            <a:ext cx="6492240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 dirty="0">
                <a:solidFill>
                  <a:srgbClr val="F7F3EA"/>
                </a:solidFill>
                <a:latin typeface="Cascadia Mono"/>
              </a:rPr>
              <a:t>cd </a:t>
            </a:r>
            <a:r>
              <a:rPr sz="1220" b="0" i="0" dirty="0" err="1">
                <a:solidFill>
                  <a:srgbClr val="F7F3EA"/>
                </a:solidFill>
                <a:latin typeface="Cascadia Mono"/>
              </a:rPr>
              <a:t>MovieTracker</a:t>
            </a:r>
            <a:endParaRPr sz="1220" b="0" i="0" dirty="0">
              <a:solidFill>
                <a:srgbClr val="F7F3EA"/>
              </a:solidFill>
              <a:latin typeface="Cascadia Mon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3544" y="2871216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" y="3154680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dotnet --version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3438144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79A9FF"/>
                </a:solidFill>
                <a:latin typeface="Cascadia Mono"/>
              </a:rPr>
              <a:t>dotnet restore src/01/MovieTracker.sln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3721608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dotnet build   src/01/MovieTracker.sln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" y="4005072"/>
            <a:ext cx="64922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8DD694"/>
                </a:solidFill>
                <a:latin typeface="Cascadia Mono"/>
              </a:rPr>
              <a:t>dotnet test    src/01/MovieTracker.sln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36992" y="1773936"/>
            <a:ext cx="3456432" cy="363931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11312" y="2039112"/>
            <a:ext cx="2724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КАК ЧЕТЕМ РЕЗУЛТАТА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11312" y="2633472"/>
            <a:ext cx="85953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1312" y="2642615"/>
            <a:ext cx="8595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79A9FF"/>
                </a:solidFill>
                <a:latin typeface="Aptos"/>
              </a:rPr>
              <a:t>RESTORE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2660903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 i="0">
                <a:solidFill>
                  <a:srgbClr val="F7F3EA"/>
                </a:solidFill>
                <a:latin typeface="Aptos Display"/>
              </a:rPr>
              <a:t>packages са налични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11312" y="3383279"/>
            <a:ext cx="85953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11312" y="3392423"/>
            <a:ext cx="8595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F4C95D"/>
                </a:solidFill>
                <a:latin typeface="Aptos"/>
              </a:rPr>
              <a:t>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3410711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 i="0">
                <a:solidFill>
                  <a:srgbClr val="F7F3EA"/>
                </a:solidFill>
                <a:latin typeface="Aptos Display"/>
              </a:rPr>
              <a:t>кодът се компилира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11312" y="4133087"/>
            <a:ext cx="85953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8DD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142231"/>
            <a:ext cx="8595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8DD694"/>
                </a:solidFill>
                <a:latin typeface="Aptos"/>
              </a:rPr>
              <a:t>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416052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1" i="0">
                <a:solidFill>
                  <a:srgbClr val="F7F3EA"/>
                </a:solidFill>
                <a:latin typeface="Aptos Display"/>
              </a:rPr>
              <a:t>познатото поведение работи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4974336"/>
            <a:ext cx="27614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05263"/>
                </a:solidFill>
                <a:latin typeface="Aptos Display"/>
              </a:rPr>
              <a:t>Грешката е информация, не провал.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ПЪРВО СТАРТИРАНЕ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Два процеса, една система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API и Web се стартират отделно; браузърът говори с API през HTTPS.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83080"/>
            <a:ext cx="5047488" cy="33101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20116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ТЕРМИНАЛ 1 /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" y="2487168"/>
            <a:ext cx="4535424" cy="1389888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9576" y="2670048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dotnet run --project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2953512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src/01/MovieTracker.API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3236976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  --launch-profile https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27048" y="4270248"/>
            <a:ext cx="3383280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27048" y="427939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05263"/>
                </a:solidFill>
                <a:latin typeface="Aptos"/>
              </a:rPr>
              <a:t>https://localhost:7003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16752" y="1783080"/>
            <a:ext cx="5047488" cy="331012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20116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ТЕРМИНАЛ 2 / WEB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2784" y="2487168"/>
            <a:ext cx="4535424" cy="1389888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01384" y="2670048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A9B5C7"/>
                </a:solidFill>
                <a:latin typeface="Cascadia Mono"/>
              </a:rPr>
              <a:t>dotnet run --project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4" y="2953512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  src/01/MovieTracker.Web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4" y="3236976"/>
            <a:ext cx="4078224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  --launch-profile https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48856" y="4270248"/>
            <a:ext cx="3383280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48856" y="427939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60" b="1" i="0">
                <a:solidFill>
                  <a:srgbClr val="50D2C2"/>
                </a:solidFill>
                <a:latin typeface="Aptos"/>
              </a:rPr>
              <a:t>https://localhost:7002/movies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788152" y="2651760"/>
            <a:ext cx="0" cy="1874520"/>
          </a:xfrm>
          <a:prstGeom prst="line">
            <a:avLst/>
          </a:prstGeom>
          <a:ln w="13970">
            <a:solidFill>
              <a:srgbClr val="6674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280160" y="5431536"/>
            <a:ext cx="9646920" cy="56692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5568696"/>
            <a:ext cx="9646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7F3EA"/>
                </a:solidFill>
                <a:latin typeface="Aptos Display"/>
              </a:rPr>
              <a:t>Web —HTTP→ API. Ако API спре, UI остава отворен, но реалният request се проваля.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0D2C2"/>
                </a:solidFill>
                <a:latin typeface="Cascadia Mono"/>
              </a:rPr>
              <a:t>НА ЖИВО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51560"/>
            <a:ext cx="6949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7F3EA"/>
                </a:solidFill>
                <a:latin typeface="Aptos Display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057400"/>
            <a:ext cx="6995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4C95D"/>
                </a:solidFill>
                <a:latin typeface="Aptos Display"/>
              </a:rPr>
              <a:t>Clone &amp; Run MovieTracker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6720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9B5C7"/>
                </a:solidFill>
                <a:latin typeface="Aptos"/>
              </a:rPr>
              <a:t>Чисто изтегляне, проверка на решението и стартиране на API + Web.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658368"/>
            <a:ext cx="3456432" cy="541324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524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88552" y="1060704"/>
            <a:ext cx="1207008" cy="1207008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8552" y="1060704"/>
            <a:ext cx="1207008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A0E17"/>
                </a:solidFill>
                <a:latin typeface="Aptos Display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51176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КАКВО ДА СЛЕДИМ</a:t>
            </a:r>
          </a:p>
        </p:txBody>
      </p:sp>
      <p:sp>
        <p:nvSpPr>
          <p:cNvPr id="24" name="Oval 23"/>
          <p:cNvSpPr/>
          <p:nvPr/>
        </p:nvSpPr>
        <p:spPr>
          <a:xfrm>
            <a:off x="8339327" y="3054096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30540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7238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Правилната начална папка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7" y="3712463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7" y="3712463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730751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Зелени build и test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7" y="4370831"/>
            <a:ext cx="347472" cy="34747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437083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89119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Два процеса и два порта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" y="4956048"/>
            <a:ext cx="6537960" cy="7863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14807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Гледайте процеса. След това го повтаряме заедно.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ВАША РАБОТА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Сега всеки сваля и стартира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Целта е не просто „тръгна“, а да знаете къде сте и какво работи.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1874519"/>
            <a:ext cx="2103120" cy="22677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9808" y="2084831"/>
            <a:ext cx="457200" cy="457200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20848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0A0E17"/>
                </a:solidFill>
                <a:latin typeface="Aptos Display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13969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9A9FF"/>
                </a:solidFill>
                <a:latin typeface="Cascadia Mono"/>
              </a:rPr>
              <a:t>CLONE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2788920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Repository-то е локално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675887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3685031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79A9FF"/>
                </a:solidFill>
                <a:latin typeface="Aptos"/>
              </a:rPr>
              <a:t>ГОТОВО 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1874519"/>
            <a:ext cx="2103120" cy="22677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017520" y="2084831"/>
            <a:ext cx="457200" cy="457200"/>
          </a:xfrm>
          <a:prstGeom prst="ellipse">
            <a:avLst/>
          </a:prstGeom>
          <a:solidFill>
            <a:srgbClr val="8DD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0" y="20848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0A0E17"/>
                </a:solidFill>
                <a:latin typeface="Aptos Display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3592" y="213969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8DD694"/>
                </a:solidFill>
                <a:latin typeface="Cascadia Mono"/>
              </a:rP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35808" y="2788920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Restore, build и test са зелени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4992" y="3675887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8DD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64992" y="3685031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8DD694"/>
                </a:solidFill>
                <a:latin typeface="Aptos"/>
              </a:rPr>
              <a:t>ГОТОВО 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02352" y="1874519"/>
            <a:ext cx="2103120" cy="22677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285232" y="2084831"/>
            <a:ext cx="457200" cy="457200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85232" y="20848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0A0E17"/>
                </a:solidFill>
                <a:latin typeface="Aptos Display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1304" y="213969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4C95D"/>
                </a:solidFill>
                <a:latin typeface="Cascadia Mono"/>
              </a:rPr>
              <a:t>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2788920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API и Web работят в два терминала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32704" y="3675887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32704" y="3685031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F4C95D"/>
                </a:solidFill>
                <a:latin typeface="Aptos"/>
              </a:rPr>
              <a:t>ГОТОВО 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70064" y="1874519"/>
            <a:ext cx="2103120" cy="22677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552944" y="2084831"/>
            <a:ext cx="457200" cy="457200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52944" y="20848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0A0E17"/>
                </a:solidFill>
                <a:latin typeface="Aptos Display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29016" y="213969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OPEN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2" y="2788920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/movies показва списъка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00416" y="3675887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00416" y="3685031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50D2C2"/>
                </a:solidFill>
                <a:latin typeface="Aptos"/>
              </a:rPr>
              <a:t>ГОТОВО 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37776" y="1874519"/>
            <a:ext cx="2103120" cy="2267712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820656" y="2084831"/>
            <a:ext cx="457200" cy="457200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20656" y="208483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0A0E17"/>
                </a:solidFill>
                <a:latin typeface="Aptos Display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96728" y="2139696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ASK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38944" y="2788920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20" b="1" i="0">
                <a:solidFill>
                  <a:srgbClr val="F7F3EA"/>
                </a:solidFill>
                <a:latin typeface="Aptos Display"/>
              </a:rPr>
              <a:t>При грешка покажете точния output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68128" y="3675887"/>
            <a:ext cx="1042415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168128" y="3685031"/>
            <a:ext cx="1042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F05263"/>
                </a:solidFill>
                <a:latin typeface="Aptos"/>
              </a:rPr>
              <a:t>ГОТОВО 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52144" y="4800600"/>
            <a:ext cx="9857232" cy="84124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389888" y="5001768"/>
            <a:ext cx="9381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Работете по двойки при блокиране: единият чете грешката, другият проверява контекста.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AI е работен партньор, не автопилот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Ползата идва от добър контекст, малки задачи и собствена проверка.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810512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59" y="2002536"/>
            <a:ext cx="402336" cy="402336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20025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" y="20482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79A9FF"/>
                </a:solidFill>
                <a:latin typeface="Cascadia Mono"/>
              </a:rPr>
              <a:t>КОНТЕКСТ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2615184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Какъв проект и ограничения?</a:t>
            </a:r>
          </a:p>
        </p:txBody>
      </p:sp>
      <p:sp>
        <p:nvSpPr>
          <p:cNvPr id="24" name="Chevron 23"/>
          <p:cNvSpPr/>
          <p:nvPr/>
        </p:nvSpPr>
        <p:spPr>
          <a:xfrm>
            <a:off x="2715768" y="2450592"/>
            <a:ext cx="164592" cy="301752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926080" y="1810512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090672" y="2002536"/>
            <a:ext cx="402336" cy="402336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90672" y="20025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0482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B69CFF"/>
                </a:solidFill>
                <a:latin typeface="Cascadia Mono"/>
              </a:rPr>
              <a:t>НАМЕРЕНИЕ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615184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Какво поведение искаме?</a:t>
            </a:r>
          </a:p>
        </p:txBody>
      </p:sp>
      <p:sp>
        <p:nvSpPr>
          <p:cNvPr id="30" name="Chevron 29"/>
          <p:cNvSpPr/>
          <p:nvPr/>
        </p:nvSpPr>
        <p:spPr>
          <a:xfrm>
            <a:off x="4983480" y="2450592"/>
            <a:ext cx="164592" cy="301752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193792" y="1810512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358383" y="2002536"/>
            <a:ext cx="402336" cy="402336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58383" y="20025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79" y="20482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F4C95D"/>
                </a:solidFill>
                <a:latin typeface="Cascadia Mono"/>
              </a:rPr>
              <a:t>МАЛКА СТЪПКА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2615184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Една inspectable промяна</a:t>
            </a:r>
          </a:p>
        </p:txBody>
      </p:sp>
      <p:sp>
        <p:nvSpPr>
          <p:cNvPr id="36" name="Chevron 35"/>
          <p:cNvSpPr/>
          <p:nvPr/>
        </p:nvSpPr>
        <p:spPr>
          <a:xfrm>
            <a:off x="7251192" y="2450592"/>
            <a:ext cx="164592" cy="301752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61504" y="1810512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626096" y="2002536"/>
            <a:ext cx="402336" cy="402336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26096" y="20025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592" y="20482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50D2C2"/>
                </a:solidFill>
                <a:latin typeface="Cascadia Mono"/>
              </a:rPr>
              <a:t>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44383" y="2615184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Четем diff-а и питаме защо</a:t>
            </a:r>
          </a:p>
        </p:txBody>
      </p:sp>
      <p:sp>
        <p:nvSpPr>
          <p:cNvPr id="42" name="Chevron 41"/>
          <p:cNvSpPr/>
          <p:nvPr/>
        </p:nvSpPr>
        <p:spPr>
          <a:xfrm>
            <a:off x="9518904" y="2450592"/>
            <a:ext cx="164592" cy="301752"/>
          </a:xfrm>
          <a:prstGeom prst="chevron">
            <a:avLst/>
          </a:prstGeom>
          <a:solidFill>
            <a:srgbClr val="667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729216" y="1810512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893808" y="2002536"/>
            <a:ext cx="402336" cy="402336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93808" y="200253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33304" y="20482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F05263"/>
                </a:solidFill>
                <a:latin typeface="Cascadia Mono"/>
              </a:rPr>
              <a:t>VERIFY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12096" y="2615184"/>
            <a:ext cx="16459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7F3EA"/>
                </a:solidFill>
                <a:latin typeface="Aptos Display"/>
              </a:rPr>
              <a:t>Build, test, run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" y="3858768"/>
            <a:ext cx="5230368" cy="157276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8DD6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0120" y="4087368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DD694"/>
                </a:solidFill>
                <a:latin typeface="Cascadia Mono"/>
              </a:rPr>
              <a:t>ДОБРИ УПОТРЕБИ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4453128"/>
            <a:ext cx="46268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8DD694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Обяснение • тестове • review на diff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8DD694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Алтернативи • edge cases • по-добри имена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81344" y="3858768"/>
            <a:ext cx="5230368" cy="157276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46520" y="4087368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05263"/>
                </a:solidFill>
                <a:latin typeface="Cascadia Mono"/>
              </a:rPr>
              <a:t>ЧЕРВЕНИ ФЛАГОВЕ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453128"/>
            <a:ext cx="4608576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F05263"/>
                </a:solidFill>
                <a:latin typeface="Aptos"/>
              </a:rPr>
              <a:t>!  </a:t>
            </a:r>
            <a:r>
              <a:rPr sz="1400">
                <a:solidFill>
                  <a:srgbClr val="F7F3EA"/>
                </a:solidFill>
                <a:latin typeface="Aptos"/>
              </a:rPr>
              <a:t>Secrets • лични данни • огромни patches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F05263"/>
                </a:solidFill>
                <a:latin typeface="Aptos"/>
              </a:rPr>
              <a:t>!  </a:t>
            </a:r>
            <a:r>
              <a:rPr sz="1400">
                <a:solidFill>
                  <a:srgbClr val="F7F3EA"/>
                </a:solidFill>
                <a:latin typeface="Aptos"/>
              </a:rPr>
              <a:t>Измислени APIs • без тестове • неразбран код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5760720"/>
            <a:ext cx="10661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4C95D"/>
                </a:solidFill>
                <a:latin typeface="Aptos Display"/>
              </a:rPr>
              <a:t>Вие — не моделът — носите отговорност за крайното решение.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Добрият prompt е малка техническа задача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Намерение + контекст + ограничения + критерий за готовност.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55648"/>
            <a:ext cx="6601968" cy="3913632"/>
          </a:xfrm>
          <a:prstGeom prst="roundRect">
            <a:avLst>
              <a:gd name="adj" fmla="val 8000"/>
            </a:avLst>
          </a:prstGeom>
          <a:solidFill>
            <a:srgbClr val="080B12"/>
          </a:solidFill>
          <a:ln w="1016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94944" y="1755648"/>
            <a:ext cx="6601968" cy="347472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9536" y="1874519"/>
            <a:ext cx="73152" cy="73152"/>
          </a:xfrm>
          <a:prstGeom prst="ellipse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4127" y="1874519"/>
            <a:ext cx="73152" cy="73152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19" y="1874519"/>
            <a:ext cx="73152" cy="731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1828800"/>
            <a:ext cx="5733288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A9B5C7"/>
                </a:solidFill>
                <a:latin typeface="Cascadia Mono"/>
              </a:rPr>
              <a:t>Пример — първо разбиране, после промяна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2286000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79A9FF"/>
                </a:solidFill>
                <a:latin typeface="Cascadia Mono"/>
              </a:rPr>
              <a:t>Контекст: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2569464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Работим в src/01 на MovieTracker.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2852928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" y="3136392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B69CFF"/>
                </a:solidFill>
                <a:latin typeface="Cascadia Mono"/>
              </a:rPr>
              <a:t>Задача: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3419856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 dirty="0" err="1">
                <a:solidFill>
                  <a:srgbClr val="F7F3EA"/>
                </a:solidFill>
                <a:latin typeface="Cascadia Mono"/>
              </a:rPr>
              <a:t>Обясни</a:t>
            </a:r>
            <a:r>
              <a:rPr sz="1220" b="0" i="0" dirty="0">
                <a:solidFill>
                  <a:srgbClr val="F7F3EA"/>
                </a:solidFill>
                <a:latin typeface="Cascadia Mono"/>
              </a:rPr>
              <a:t> </a:t>
            </a:r>
            <a:r>
              <a:rPr sz="1220" b="0" i="0" dirty="0" err="1">
                <a:solidFill>
                  <a:srgbClr val="F7F3EA"/>
                </a:solidFill>
                <a:latin typeface="Cascadia Mono"/>
              </a:rPr>
              <a:t>пътя</a:t>
            </a:r>
            <a:r>
              <a:rPr sz="1220" b="0" i="0" dirty="0">
                <a:solidFill>
                  <a:srgbClr val="F7F3EA"/>
                </a:solidFill>
                <a:latin typeface="Cascadia Mono"/>
              </a:rPr>
              <a:t> </a:t>
            </a:r>
            <a:r>
              <a:rPr sz="1220" b="0" i="0" dirty="0" err="1">
                <a:solidFill>
                  <a:srgbClr val="F7F3EA"/>
                </a:solidFill>
                <a:latin typeface="Cascadia Mono"/>
              </a:rPr>
              <a:t>на</a:t>
            </a:r>
            <a:r>
              <a:rPr sz="1220" b="0" i="0" dirty="0">
                <a:solidFill>
                  <a:srgbClr val="F7F3EA"/>
                </a:solidFill>
                <a:latin typeface="Cascadia Mono"/>
              </a:rPr>
              <a:t> GET /</a:t>
            </a:r>
            <a:r>
              <a:rPr sz="1220" b="0" i="0" dirty="0" err="1">
                <a:solidFill>
                  <a:srgbClr val="F7F3EA"/>
                </a:solidFill>
                <a:latin typeface="Cascadia Mono"/>
              </a:rPr>
              <a:t>api</a:t>
            </a:r>
            <a:r>
              <a:rPr sz="1220" b="0" i="0" dirty="0">
                <a:solidFill>
                  <a:srgbClr val="F7F3EA"/>
                </a:solidFill>
                <a:latin typeface="Cascadia Mono"/>
              </a:rPr>
              <a:t>/movies.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3703320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544" y="3986783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4C95D"/>
                </a:solidFill>
                <a:latin typeface="Cascadia Mono"/>
              </a:rPr>
              <a:t>Ограничения: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" y="4270247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Не редактирай файлове. Не добавяй бъдещи функции.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" y="4553711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3544" y="4837175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50D2C2"/>
                </a:solidFill>
                <a:latin typeface="Cascadia Mono"/>
              </a:rPr>
              <a:t>Готово е, когато: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" y="5120639"/>
            <a:ext cx="614476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F7F3EA"/>
                </a:solidFill>
                <a:latin typeface="Cascadia Mono"/>
              </a:rPr>
              <a:t>Мога да назова всяка граница и отговорност.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98664" y="1755648"/>
            <a:ext cx="3794760" cy="7863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827264" y="1956816"/>
            <a:ext cx="122529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27264" y="1965960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79A9FF"/>
                </a:solidFill>
                <a:latin typeface="Aptos"/>
              </a:rPr>
              <a:t>КОНТЕКСТ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1956816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Къде сме?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98664" y="2743200"/>
            <a:ext cx="3794760" cy="7863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827264" y="2944368"/>
            <a:ext cx="122529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B6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27264" y="2953512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B69CFF"/>
                </a:solidFill>
                <a:latin typeface="Aptos"/>
              </a:rPr>
              <a:t>ЗАДАЧА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2944368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Какво искаме?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98664" y="3730752"/>
            <a:ext cx="3794760" cy="7863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827264" y="3931920"/>
            <a:ext cx="122529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27264" y="3941063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F4C95D"/>
                </a:solidFill>
                <a:latin typeface="Aptos"/>
              </a:rPr>
              <a:t>ОГРАНИЧЕНИЯ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3931920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Какво не пипаме?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98664" y="4718304"/>
            <a:ext cx="3794760" cy="786384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827264" y="4919472"/>
            <a:ext cx="1225296" cy="329184"/>
          </a:xfrm>
          <a:prstGeom prst="roundRect">
            <a:avLst>
              <a:gd name="adj" fmla="val 8000"/>
            </a:avLst>
          </a:prstGeom>
          <a:solidFill>
            <a:srgbClr val="0A0E17"/>
          </a:solidFill>
          <a:ln w="1016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27264" y="4928616"/>
            <a:ext cx="12252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50D2C2"/>
                </a:solidFill>
                <a:latin typeface="Aptos"/>
              </a:rPr>
              <a:t>DONE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99448" y="4919472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F3EA"/>
                </a:solidFill>
                <a:latin typeface="Aptos Display"/>
              </a:rPr>
              <a:t>Как проверяваме?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7" y="5504688"/>
            <a:ext cx="363931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05263"/>
                </a:solidFill>
                <a:latin typeface="Aptos Display"/>
              </a:rPr>
              <a:t>По-малък prompt ≠ по-малко контекст.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69CFF"/>
                </a:solidFill>
                <a:latin typeface="Cascadia Mono"/>
              </a:rPr>
              <a:t>НА ЖИВО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051560"/>
            <a:ext cx="694944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7F3EA"/>
                </a:solidFill>
                <a:latin typeface="Aptos Display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057400"/>
            <a:ext cx="6995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4C95D"/>
                </a:solidFill>
                <a:latin typeface="Aptos Display"/>
              </a:rPr>
              <a:t>AI в реалния MovieTracker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6720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9B5C7"/>
                </a:solidFill>
                <a:latin typeface="Aptos"/>
              </a:rPr>
              <a:t>От въпрос за кода до малка промяна, review на diff и изпълнени проверки.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658368"/>
            <a:ext cx="3456432" cy="541324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5240">
            <a:solidFill>
              <a:srgbClr val="B6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88552" y="1060704"/>
            <a:ext cx="1207008" cy="1207008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88552" y="1060704"/>
            <a:ext cx="1207008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A0E17"/>
                </a:solidFill>
                <a:latin typeface="Aptos Display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51176"/>
            <a:ext cx="2578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B69CFF"/>
                </a:solidFill>
                <a:latin typeface="Cascadia Mono"/>
              </a:rPr>
              <a:t>КАКВО ДА СЛЕДИМ</a:t>
            </a:r>
          </a:p>
        </p:txBody>
      </p:sp>
      <p:sp>
        <p:nvSpPr>
          <p:cNvPr id="24" name="Oval 23"/>
          <p:cNvSpPr/>
          <p:nvPr/>
        </p:nvSpPr>
        <p:spPr>
          <a:xfrm>
            <a:off x="8339327" y="3054096"/>
            <a:ext cx="347472" cy="347472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30540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7238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Контекст от repository-то</a:t>
            </a:r>
          </a:p>
        </p:txBody>
      </p:sp>
      <p:sp>
        <p:nvSpPr>
          <p:cNvPr id="27" name="Oval 26"/>
          <p:cNvSpPr/>
          <p:nvPr/>
        </p:nvSpPr>
        <p:spPr>
          <a:xfrm>
            <a:off x="8339327" y="3712463"/>
            <a:ext cx="347472" cy="347472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7" y="3712463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730751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Минимална промяна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7" y="4370831"/>
            <a:ext cx="347472" cy="347472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437083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89119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7F3EA"/>
                </a:solidFill>
                <a:latin typeface="Aptos Display"/>
              </a:rPr>
              <a:t>Diff + build + 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" y="4956048"/>
            <a:ext cx="6537960" cy="786384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14807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7F3EA"/>
                </a:solidFill>
                <a:latin typeface="Aptos Display"/>
              </a:rPr>
              <a:t>Гледайте процеса. След това го повтаряме заедно.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LECTURE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Aptos"/>
              </a:rPr>
              <a:t>ОТВОРЕНА ДИСКУСИЯ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836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7F3EA"/>
                </a:solidFill>
                <a:latin typeface="Aptos Display"/>
              </a:rPr>
              <a:t>Вие определяте какво искате да вземете от курса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12435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Няма готов списък от мен — първите отговори трябва да дойдат от вас.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1773936"/>
            <a:ext cx="5175504" cy="1225296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79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2121408"/>
            <a:ext cx="493776" cy="493776"/>
          </a:xfrm>
          <a:prstGeom prst="ellipse">
            <a:avLst/>
          </a:prstGeom>
          <a:solidFill>
            <a:srgbClr val="7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121408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2020824"/>
            <a:ext cx="382219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7F3EA"/>
                </a:solidFill>
                <a:latin typeface="Aptos Display"/>
              </a:rPr>
              <a:t>Кое умение искате да подобрите най-много?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1" y="1773936"/>
            <a:ext cx="5175504" cy="1225296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19088" y="2121408"/>
            <a:ext cx="493776" cy="493776"/>
          </a:xfrm>
          <a:prstGeom prst="ellipse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2121408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19" y="2020824"/>
            <a:ext cx="382219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7F3EA"/>
                </a:solidFill>
                <a:latin typeface="Aptos Display"/>
              </a:rPr>
              <a:t>Коя технология ви е най-неясна днес?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3255264"/>
            <a:ext cx="5175504" cy="1225296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3602736"/>
            <a:ext cx="493776" cy="493776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360273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7632" y="3502152"/>
            <a:ext cx="382219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7F3EA"/>
                </a:solidFill>
                <a:latin typeface="Aptos Display"/>
              </a:rPr>
              <a:t>Какъв вид проект бихте искали да можете да изградите сами?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1" y="3255264"/>
            <a:ext cx="5175504" cy="1225296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19088" y="3602736"/>
            <a:ext cx="493776" cy="493776"/>
          </a:xfrm>
          <a:prstGeom prst="ellipse">
            <a:avLst/>
          </a:prstGeom>
          <a:solidFill>
            <a:srgbClr val="B6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9088" y="360273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A0E17"/>
                </a:solidFill>
                <a:latin typeface="Aptos Display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19" y="3502152"/>
            <a:ext cx="3822191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7F3EA"/>
                </a:solidFill>
                <a:latin typeface="Aptos Display"/>
              </a:rPr>
              <a:t>Как разбирате, че една лекция е била полезна?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07008" y="4974336"/>
            <a:ext cx="9765792" cy="841248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2700">
            <a:solidFill>
              <a:srgbClr val="F0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44752" y="5138928"/>
            <a:ext cx="18836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05263"/>
                </a:solidFill>
                <a:latin typeface="Cascadia Mono"/>
              </a:rPr>
              <a:t>ПРАВИЛО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90672" y="5102352"/>
            <a:ext cx="7479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7F3EA"/>
                </a:solidFill>
                <a:latin typeface="Aptos Display"/>
              </a:rPr>
              <a:t>Първо 2 минути мислите и записвате. После говорите вие.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0" cy="22860"/>
          </a:xfrm>
          <a:prstGeom prst="rect">
            <a:avLst/>
          </a:prstGeom>
          <a:solidFill>
            <a:srgbClr val="F4C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96928" y="41148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996928" y="111556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996928" y="181965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996928" y="252374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996928" y="3227832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996928" y="3931920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996928" y="4636008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996928" y="5340096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96928" y="6044184"/>
            <a:ext cx="91440" cy="274320"/>
          </a:xfrm>
          <a:prstGeom prst="roundRect">
            <a:avLst>
              <a:gd name="adj" fmla="val 8000"/>
            </a:avLst>
          </a:prstGeom>
          <a:solidFill>
            <a:srgbClr val="21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66748A"/>
                </a:solidFill>
                <a:latin typeface="Aptos"/>
              </a:rPr>
              <a:t>ФИНАЛ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739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6748A"/>
                </a:solidFill>
                <a:latin typeface="Cascadia Mono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217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05263"/>
                </a:solidFill>
                <a:latin typeface="Cascadia Mono"/>
              </a:rPr>
              <a:t>MOVIETRACKER • ЛЕКЦИЯ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335024"/>
            <a:ext cx="7498079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7F3EA"/>
                </a:solidFill>
                <a:latin typeface="Aptos Display"/>
              </a:rPr>
              <a:t>Въпроси?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414016"/>
            <a:ext cx="690372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4C95D"/>
                </a:solidFill>
                <a:latin typeface="Aptos Display"/>
              </a:rPr>
              <a:t>Започнете от нещото, което още не можете да обясните.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3749039"/>
            <a:ext cx="6583680" cy="1755648"/>
          </a:xfrm>
          <a:prstGeom prst="roundRect">
            <a:avLst>
              <a:gd name="adj" fmla="val 8000"/>
            </a:avLst>
          </a:prstGeom>
          <a:solidFill>
            <a:srgbClr val="141D2D"/>
          </a:solidFill>
          <a:ln w="12700">
            <a:solidFill>
              <a:srgbClr val="21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005072"/>
            <a:ext cx="6053328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→  </a:t>
            </a:r>
            <a:r>
              <a:rPr sz="1550">
                <a:solidFill>
                  <a:srgbClr val="F7F3EA"/>
                </a:solidFill>
                <a:latin typeface="Aptos"/>
              </a:rPr>
              <a:t>Git/GitHub?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→  </a:t>
            </a:r>
            <a:r>
              <a:rPr sz="1550">
                <a:solidFill>
                  <a:srgbClr val="F7F3EA"/>
                </a:solidFill>
                <a:latin typeface="Aptos"/>
              </a:rPr>
              <a:t>Стартиране на проекта?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→  </a:t>
            </a:r>
            <a:r>
              <a:rPr sz="1550">
                <a:solidFill>
                  <a:srgbClr val="F7F3EA"/>
                </a:solidFill>
                <a:latin typeface="Aptos"/>
              </a:rPr>
              <a:t>Стекът и архитектурата?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>
                <a:solidFill>
                  <a:srgbClr val="50D2C2"/>
                </a:solidFill>
                <a:latin typeface="Aptos"/>
              </a:rPr>
              <a:t>→  </a:t>
            </a:r>
            <a:r>
              <a:rPr sz="1550">
                <a:solidFill>
                  <a:srgbClr val="F7F3EA"/>
                </a:solidFill>
                <a:latin typeface="Aptos"/>
              </a:rPr>
              <a:t>Generative AI?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658368"/>
            <a:ext cx="3255264" cy="5440680"/>
          </a:xfrm>
          <a:prstGeom prst="roundRect">
            <a:avLst>
              <a:gd name="adj" fmla="val 8000"/>
            </a:avLst>
          </a:prstGeom>
          <a:solidFill>
            <a:srgbClr val="19263A"/>
          </a:solidFill>
          <a:ln w="13970">
            <a:solidFill>
              <a:srgbClr val="50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78824" y="1353312"/>
            <a:ext cx="1444752" cy="1444752"/>
          </a:xfrm>
          <a:prstGeom prst="ellipse">
            <a:avLst/>
          </a:prstGeom>
          <a:solidFill>
            <a:srgbClr val="50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78824" y="1353312"/>
            <a:ext cx="1444752" cy="1444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0A0E17"/>
                </a:solidFill>
                <a:latin typeface="Aptos Display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200400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50D2C2"/>
                </a:solidFill>
                <a:latin typeface="Cascadia Mono"/>
              </a:rPr>
              <a:t>ДНЕС НАПРАВИХМЕ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3675887"/>
            <a:ext cx="2395728" cy="1307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F4C95D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обща карта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F4C95D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работещо repo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F4C95D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първи Git workflow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F4C95D"/>
                </a:solidFill>
                <a:latin typeface="Aptos"/>
              </a:rPr>
              <a:t>✓  </a:t>
            </a:r>
            <a:r>
              <a:rPr sz="1400">
                <a:solidFill>
                  <a:srgbClr val="F7F3EA"/>
                </a:solidFill>
                <a:latin typeface="Aptos"/>
              </a:rPr>
              <a:t>AI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779008"/>
            <a:ext cx="65105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A9B5C7"/>
                </a:solidFill>
                <a:latin typeface="Aptos"/>
              </a:rPr>
              <a:t>Следващата стъпка: разбираме първия vertical slice в дълбочина.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Words>3314</Words>
  <Application>Microsoft Office PowerPoint</Application>
  <PresentationFormat>Widescreen</PresentationFormat>
  <Paragraphs>631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MovieTracker — Лекция 01: старт, GitHub и Generative AI</dc:title>
  <dc:subject>Ориентация в курса, технологичен стек, GitHub, стартиране на проекта и практическа работа с Generative AI</dc:subject>
  <dc:creator>teomihov</dc:creator>
  <cp:keywords>MovieTracker, .NET 10, Blazor, GitHub, SSH, Git, Generative AI, Visual Studio Code</cp:keywords>
  <dc:description>generated using python-pptx</dc:description>
  <cp:lastModifiedBy>Teodor Mihov</cp:lastModifiedBy>
  <cp:revision>6</cp:revision>
  <dcterms:created xsi:type="dcterms:W3CDTF">2013-01-27T09:14:16Z</dcterms:created>
  <dcterms:modified xsi:type="dcterms:W3CDTF">2026-09-25T09:46:46Z</dcterms:modified>
  <cp:category/>
</cp:coreProperties>
</file>